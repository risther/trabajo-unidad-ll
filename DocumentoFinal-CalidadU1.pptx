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8" r:id="rId3"/>
    <p:sldId id="265" r:id="rId4"/>
    <p:sldId id="266" r:id="rId5"/>
    <p:sldId id="267" r:id="rId6"/>
    <p:sldId id="268" r:id="rId7"/>
    <p:sldId id="271" r:id="rId8"/>
    <p:sldId id="269" r:id="rId9"/>
    <p:sldId id="270" r:id="rId10"/>
    <p:sldId id="272" r:id="rId11"/>
    <p:sldId id="279" r:id="rId12"/>
    <p:sldId id="278" r:id="rId13"/>
    <p:sldId id="273" r:id="rId14"/>
    <p:sldId id="274" r:id="rId15"/>
    <p:sldId id="275" r:id="rId16"/>
    <p:sldId id="276" r:id="rId17"/>
    <p:sldId id="277" r:id="rId18"/>
    <p:sldId id="259" r:id="rId19"/>
    <p:sldId id="280" r:id="rId20"/>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19838B-8813-8900-4AA5-94BC0564492D}" v="2" dt="2020-10-31T15:29:19.840"/>
    <p1510:client id="{299B6657-11BA-472D-D874-9FFA2E1D92D0}" v="8" dt="2020-10-31T15:13:37.575"/>
    <p1510:client id="{394713D7-925E-7DED-7AAE-6EA7CD6F00D5}" v="7" dt="2020-10-31T15:44:23.453"/>
    <p1510:client id="{CEA866DC-5F18-4975-874D-006522C0502F}" v="26" dt="2020-10-31T15:46:47.866"/>
    <p1510:client id="{F556DB86-1340-C32C-037F-9C7C3880BBE2}" v="4" dt="2020-10-31T15:11:19.843"/>
    <p1510:client id="{F5CAB632-EFF9-8FC3-F1EC-C3A656978732}" v="288" dt="2020-10-31T15:25:47.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55704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582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0540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15210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10/31/2020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98229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10/31/2020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67146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10/31/2020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26332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38317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4239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9404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8139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10/31/2020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379114055"/>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5B4CB86-6D8D-47F9-9191-0B6C6EC1B361}"/>
              </a:ext>
            </a:extLst>
          </p:cNvPr>
          <p:cNvSpPr txBox="1"/>
          <p:nvPr/>
        </p:nvSpPr>
        <p:spPr>
          <a:xfrm>
            <a:off x="2031680" y="1815921"/>
            <a:ext cx="8128635" cy="1077218"/>
          </a:xfrm>
          <a:prstGeom prst="rect">
            <a:avLst/>
          </a:prstGeom>
          <a:noFill/>
        </p:spPr>
        <p:txBody>
          <a:bodyPr wrap="square">
            <a:spAutoFit/>
          </a:bodyPr>
          <a:lstStyle/>
          <a:p>
            <a:pPr algn="ctr"/>
            <a:r>
              <a:rPr lang="es-PE" sz="3200" b="1">
                <a:solidFill>
                  <a:srgbClr val="000000"/>
                </a:solidFill>
                <a:latin typeface="Arial" panose="020B0604020202020204" pitchFamily="34" charset="0"/>
                <a:ea typeface="Calibri" panose="020F0502020204030204" pitchFamily="34" charset="0"/>
                <a:cs typeface="Times New Roman" panose="02020603050405020304" pitchFamily="18" charset="0"/>
              </a:rPr>
              <a:t>“MEJORAMIENTO DE LA APLICACIÓN DE LA VETERINARIA </a:t>
            </a:r>
            <a:r>
              <a:rPr lang="es-PE" sz="3200" b="1" i="1">
                <a:solidFill>
                  <a:srgbClr val="000000"/>
                </a:solidFill>
                <a:latin typeface="Arial" panose="020B0604020202020204" pitchFamily="34" charset="0"/>
                <a:ea typeface="Calibri" panose="020F0502020204030204" pitchFamily="34" charset="0"/>
                <a:cs typeface="Times New Roman" panose="02020603050405020304" pitchFamily="18" charset="0"/>
              </a:rPr>
              <a:t>PET’S PLANET</a:t>
            </a:r>
            <a:r>
              <a:rPr lang="es-PE" sz="3200" b="1">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s-PE">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553E87AC-A1F0-4339-9ACB-A46F3889F6F3}"/>
              </a:ext>
            </a:extLst>
          </p:cNvPr>
          <p:cNvSpPr txBox="1"/>
          <p:nvPr/>
        </p:nvSpPr>
        <p:spPr>
          <a:xfrm>
            <a:off x="3049909" y="2987235"/>
            <a:ext cx="6092191" cy="923330"/>
          </a:xfrm>
          <a:prstGeom prst="rect">
            <a:avLst/>
          </a:prstGeom>
          <a:noFill/>
        </p:spPr>
        <p:txBody>
          <a:bodyPr wrap="square">
            <a:spAutoFit/>
          </a:bodyPr>
          <a:lstStyle/>
          <a:p>
            <a:pPr algn="ctr"/>
            <a:r>
              <a:rPr lang="es-PE">
                <a:latin typeface="Arial" panose="020B0604020202020204" pitchFamily="34" charset="0"/>
                <a:ea typeface="Times New Roman" panose="02020603050405020304" pitchFamily="18" charset="0"/>
                <a:cs typeface="Times New Roman" panose="02020603050405020304" pitchFamily="18" charset="0"/>
              </a:rPr>
              <a:t>Curso: Calidad y Pruebas de Software</a:t>
            </a:r>
            <a:endParaRPr lang="es-PE" sz="1200">
              <a:latin typeface="Calibri" panose="020F0502020204030204" pitchFamily="34" charset="0"/>
              <a:ea typeface="Calibri" panose="020F0502020204030204" pitchFamily="34" charset="0"/>
              <a:cs typeface="Times New Roman" panose="02020603050405020304" pitchFamily="18" charset="0"/>
            </a:endParaRPr>
          </a:p>
          <a:p>
            <a:pPr algn="just"/>
            <a:r>
              <a:rPr lang="es-PE" sz="900" b="1">
                <a:solidFill>
                  <a:srgbClr val="4472C4"/>
                </a:solidFill>
                <a:latin typeface="Arial" panose="020B0604020202020204" pitchFamily="34" charset="0"/>
                <a:ea typeface="Calibri" panose="020F0502020204030204" pitchFamily="34" charset="0"/>
                <a:cs typeface="Times New Roman" panose="02020603050405020304" pitchFamily="18" charset="0"/>
              </a:rPr>
              <a:t> </a:t>
            </a:r>
            <a:endParaRPr lang="es-PE" sz="1200">
              <a:latin typeface="Calibri" panose="020F0502020204030204" pitchFamily="34" charset="0"/>
              <a:ea typeface="Calibri" panose="020F0502020204030204" pitchFamily="34" charset="0"/>
              <a:cs typeface="Times New Roman" panose="02020603050405020304" pitchFamily="18" charset="0"/>
            </a:endParaRPr>
          </a:p>
          <a:p>
            <a:pPr algn="ctr"/>
            <a:r>
              <a:rPr lang="es-PE" sz="900" b="1">
                <a:solidFill>
                  <a:srgbClr val="4472C4"/>
                </a:solidFill>
                <a:latin typeface="Arial" panose="020B0604020202020204" pitchFamily="34" charset="0"/>
                <a:ea typeface="Calibri" panose="020F0502020204030204" pitchFamily="34" charset="0"/>
                <a:cs typeface="Times New Roman" panose="02020603050405020304" pitchFamily="18" charset="0"/>
              </a:rPr>
              <a:t> </a:t>
            </a:r>
            <a:endParaRPr lang="es-PE" sz="1200">
              <a:latin typeface="Calibri" panose="020F0502020204030204" pitchFamily="34" charset="0"/>
              <a:ea typeface="Calibri" panose="020F0502020204030204" pitchFamily="34" charset="0"/>
              <a:cs typeface="Times New Roman" panose="02020603050405020304" pitchFamily="18" charset="0"/>
            </a:endParaRPr>
          </a:p>
          <a:p>
            <a:pPr algn="ctr"/>
            <a:r>
              <a:rPr lang="es-PE">
                <a:latin typeface="Arial" panose="020B0604020202020204" pitchFamily="34" charset="0"/>
                <a:ea typeface="Times New Roman" panose="02020603050405020304" pitchFamily="18" charset="0"/>
                <a:cs typeface="Times New Roman" panose="02020603050405020304" pitchFamily="18" charset="0"/>
              </a:rPr>
              <a:t>Docente: Ing. Patrick Cuadros</a:t>
            </a:r>
            <a:endParaRPr lang="es-PE" sz="1200">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0115342F-EF53-4FF2-9B54-C59E9D949747}"/>
              </a:ext>
            </a:extLst>
          </p:cNvPr>
          <p:cNvSpPr txBox="1"/>
          <p:nvPr/>
        </p:nvSpPr>
        <p:spPr>
          <a:xfrm>
            <a:off x="3049909" y="5851321"/>
            <a:ext cx="6092191" cy="646331"/>
          </a:xfrm>
          <a:prstGeom prst="rect">
            <a:avLst/>
          </a:prstGeom>
          <a:noFill/>
        </p:spPr>
        <p:txBody>
          <a:bodyPr wrap="square">
            <a:spAutoFit/>
          </a:bodyPr>
          <a:lstStyle/>
          <a:p>
            <a:pPr algn="ctr"/>
            <a:r>
              <a:rPr lang="es-PE" b="1">
                <a:latin typeface="Arial" panose="020B0604020202020204" pitchFamily="34" charset="0"/>
                <a:ea typeface="Times New Roman" panose="02020603050405020304" pitchFamily="18" charset="0"/>
                <a:cs typeface="Times New Roman" panose="02020603050405020304" pitchFamily="18" charset="0"/>
              </a:rPr>
              <a:t>Tacna – Perú</a:t>
            </a:r>
            <a:endParaRPr lang="es-PE" sz="1200">
              <a:latin typeface="Calibri" panose="020F0502020204030204" pitchFamily="34" charset="0"/>
              <a:ea typeface="Calibri" panose="020F0502020204030204" pitchFamily="34" charset="0"/>
              <a:cs typeface="Times New Roman" panose="02020603050405020304" pitchFamily="18" charset="0"/>
            </a:endParaRPr>
          </a:p>
          <a:p>
            <a:pPr algn="ctr"/>
            <a:r>
              <a:rPr lang="es-PE" b="1">
                <a:latin typeface="Arial" panose="020B0604020202020204" pitchFamily="34" charset="0"/>
                <a:ea typeface="Times New Roman" panose="02020603050405020304" pitchFamily="18" charset="0"/>
                <a:cs typeface="Times New Roman" panose="02020603050405020304" pitchFamily="18" charset="0"/>
              </a:rPr>
              <a:t>2020</a:t>
            </a:r>
            <a:endParaRPr lang="es-PE" sz="1200">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CE765EFD-F9BE-4F64-8B90-F41A9E82C8F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8562" y="265744"/>
            <a:ext cx="1134870" cy="1334617"/>
          </a:xfrm>
          <a:prstGeom prst="rect">
            <a:avLst/>
          </a:prstGeom>
          <a:noFill/>
          <a:ln>
            <a:noFill/>
          </a:ln>
        </p:spPr>
      </p:pic>
      <p:sp>
        <p:nvSpPr>
          <p:cNvPr id="8" name="CuadroTexto 7">
            <a:extLst>
              <a:ext uri="{FF2B5EF4-FFF2-40B4-BE49-F238E27FC236}">
                <a16:creationId xmlns:a16="http://schemas.microsoft.com/office/drawing/2014/main" id="{72BE4202-D395-44EC-A68B-121C485635C6}"/>
              </a:ext>
            </a:extLst>
          </p:cNvPr>
          <p:cNvSpPr txBox="1"/>
          <p:nvPr/>
        </p:nvSpPr>
        <p:spPr>
          <a:xfrm>
            <a:off x="4410072" y="4228289"/>
            <a:ext cx="3371850" cy="1477328"/>
          </a:xfrm>
          <a:prstGeom prst="rect">
            <a:avLst/>
          </a:prstGeom>
          <a:noFill/>
        </p:spPr>
        <p:txBody>
          <a:bodyPr wrap="square">
            <a:spAutoFit/>
          </a:bodyPr>
          <a:lstStyle/>
          <a:p>
            <a:pPr algn="ctr"/>
            <a:r>
              <a:rPr lang="es-PE"/>
              <a:t>Catarí Cabrera, Yober Nain</a:t>
            </a:r>
          </a:p>
          <a:p>
            <a:pPr algn="ctr"/>
            <a:r>
              <a:rPr lang="es-PE"/>
              <a:t> Limache Victorio, Víctor Piero </a:t>
            </a:r>
          </a:p>
          <a:p>
            <a:pPr algn="ctr"/>
            <a:r>
              <a:rPr lang="es-PE"/>
              <a:t>Tarqui Montalico ,Risther Jaime</a:t>
            </a:r>
          </a:p>
          <a:p>
            <a:pPr algn="ctr"/>
            <a:r>
              <a:rPr lang="es-PE"/>
              <a:t> Vargas Cusacani, Possi </a:t>
            </a:r>
          </a:p>
          <a:p>
            <a:pPr algn="ctr"/>
            <a:r>
              <a:rPr lang="es-PE"/>
              <a:t>Liendo Velasquez, Joaquín </a:t>
            </a:r>
          </a:p>
        </p:txBody>
      </p:sp>
      <p:sp>
        <p:nvSpPr>
          <p:cNvPr id="11" name="CuadroTexto 10">
            <a:extLst>
              <a:ext uri="{FF2B5EF4-FFF2-40B4-BE49-F238E27FC236}">
                <a16:creationId xmlns:a16="http://schemas.microsoft.com/office/drawing/2014/main" id="{7260F8E4-1D7C-4A2D-94FB-D5F2B67E59E6}"/>
              </a:ext>
            </a:extLst>
          </p:cNvPr>
          <p:cNvSpPr txBox="1"/>
          <p:nvPr/>
        </p:nvSpPr>
        <p:spPr>
          <a:xfrm>
            <a:off x="5371438" y="4071667"/>
            <a:ext cx="6093068" cy="369332"/>
          </a:xfrm>
          <a:prstGeom prst="rect">
            <a:avLst/>
          </a:prstGeom>
          <a:noFill/>
        </p:spPr>
        <p:txBody>
          <a:bodyPr wrap="square">
            <a:spAutoFit/>
          </a:bodyPr>
          <a:lstStyle/>
          <a:p>
            <a:r>
              <a:rPr lang="es-PE" b="1">
                <a:latin typeface="Arial" panose="020B0604020202020204" pitchFamily="34" charset="0"/>
                <a:ea typeface="Times New Roman" panose="02020603050405020304" pitchFamily="18" charset="0"/>
                <a:cs typeface="Times New Roman" panose="02020603050405020304" pitchFamily="18" charset="0"/>
              </a:rPr>
              <a:t>Integrantes</a:t>
            </a:r>
            <a:endParaRPr lang="es-PE" b="1"/>
          </a:p>
        </p:txBody>
      </p:sp>
      <p:sp>
        <p:nvSpPr>
          <p:cNvPr id="4" name="Rectángulo 3">
            <a:extLst>
              <a:ext uri="{FF2B5EF4-FFF2-40B4-BE49-F238E27FC236}">
                <a16:creationId xmlns:a16="http://schemas.microsoft.com/office/drawing/2014/main" id="{BDF9CE81-7C3B-41A0-A8B8-447513C63C42}"/>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575776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98AC0DE-3D04-44E5-8D76-8927778CED9A}"/>
              </a:ext>
            </a:extLst>
          </p:cNvPr>
          <p:cNvSpPr txBox="1"/>
          <p:nvPr/>
        </p:nvSpPr>
        <p:spPr>
          <a:xfrm>
            <a:off x="828462" y="1239392"/>
            <a:ext cx="9708125" cy="1938992"/>
          </a:xfrm>
          <a:prstGeom prst="rect">
            <a:avLst/>
          </a:prstGeom>
          <a:noFill/>
        </p:spPr>
        <p:txBody>
          <a:bodyPr wrap="square">
            <a:spAutoFit/>
          </a:bodyPr>
          <a:lstStyle/>
          <a:p>
            <a:pPr marL="457189" algn="just"/>
            <a:r>
              <a:rPr lang="es-PE" sz="2000">
                <a:latin typeface="Times New Roman" panose="02020603050405020304" pitchFamily="18" charset="0"/>
                <a:ea typeface="Calibri" panose="020F0502020204030204" pitchFamily="34" charset="0"/>
                <a:cs typeface="Times New Roman" panose="02020603050405020304" pitchFamily="18" charset="0"/>
              </a:rPr>
              <a:t>En este informe de trabajo usaremos las herramientas aprendidas y principalmente el uso de la herramienta SonarQube que mejorara en todo aspecto el programa ya realizado en el transcurso de la carrera. SonarQube nos ayudará a evaluar el código fuente, gracias a dicha evaluación podremos obtener métricas que pueden ayudar la calidad del código fuente del programa y así obtener una mejora sustancial de nuestros conocimientos y la mejora de la calidad del software.</a:t>
            </a:r>
            <a:endParaRPr lang="es-PE">
              <a:latin typeface="Calibri" panose="020F050202020403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91C4B598-75A1-4359-AE8F-74F29F317444}"/>
              </a:ext>
            </a:extLst>
          </p:cNvPr>
          <p:cNvSpPr txBox="1"/>
          <p:nvPr/>
        </p:nvSpPr>
        <p:spPr>
          <a:xfrm>
            <a:off x="547109" y="503973"/>
            <a:ext cx="3427014" cy="461665"/>
          </a:xfrm>
          <a:prstGeom prst="rect">
            <a:avLst/>
          </a:prstGeom>
          <a:noFill/>
        </p:spPr>
        <p:txBody>
          <a:bodyPr wrap="square">
            <a:spAutoFit/>
          </a:bodyPr>
          <a:lstStyle/>
          <a:p>
            <a:pPr marL="342891" indent="-342891" algn="just">
              <a:spcAft>
                <a:spcPts val="600"/>
              </a:spcAft>
              <a:buFont typeface="+mj-lt"/>
              <a:buAutoNum type="arabicPeriod"/>
            </a:pPr>
            <a:r>
              <a:rPr lang="es-PE" sz="2400" b="1">
                <a:latin typeface="Times New Roman" panose="02020603050405020304" pitchFamily="18" charset="0"/>
                <a:ea typeface="Calibri" panose="020F0502020204030204" pitchFamily="34" charset="0"/>
                <a:cs typeface="Times New Roman" panose="02020603050405020304" pitchFamily="18" charset="0"/>
              </a:rPr>
              <a:t>INTRODUCCIÓN</a:t>
            </a:r>
            <a:endParaRPr lang="es-PE" sz="2000">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onarQube | SonarScanner : a step by step guide. | by Rahul Mourya | The  Startup | Medium">
            <a:extLst>
              <a:ext uri="{FF2B5EF4-FFF2-40B4-BE49-F238E27FC236}">
                <a16:creationId xmlns:a16="http://schemas.microsoft.com/office/drawing/2014/main" id="{EC6482C4-C614-49A8-8234-BBE0169D8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0162" y="3429000"/>
            <a:ext cx="5584723" cy="16739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CED6741-A2E8-4199-8C2D-D81BF4B06585}"/>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766835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91C4B598-75A1-4359-AE8F-74F29F317444}"/>
              </a:ext>
            </a:extLst>
          </p:cNvPr>
          <p:cNvSpPr txBox="1"/>
          <p:nvPr/>
        </p:nvSpPr>
        <p:spPr>
          <a:xfrm>
            <a:off x="547108" y="503972"/>
            <a:ext cx="3303923"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2.    PROBLEMATICA</a:t>
            </a:r>
            <a:endParaRPr lang="es-PE" sz="2000">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8994E6B9-969F-4733-A005-DB8F092837F7}"/>
              </a:ext>
            </a:extLst>
          </p:cNvPr>
          <p:cNvSpPr txBox="1"/>
          <p:nvPr/>
        </p:nvSpPr>
        <p:spPr>
          <a:xfrm>
            <a:off x="1200150" y="1566193"/>
            <a:ext cx="7060226" cy="3477875"/>
          </a:xfrm>
          <a:prstGeom prst="rect">
            <a:avLst/>
          </a:prstGeom>
          <a:noFill/>
        </p:spPr>
        <p:txBody>
          <a:bodyPr wrap="square" lIns="91440" tIns="45720" rIns="91440" bIns="45720" anchor="t">
            <a:spAutoFit/>
          </a:bodyPr>
          <a:lstStyle/>
          <a:p>
            <a:r>
              <a:rPr lang="es-ES" sz="2000"/>
              <a:t>El problema de todo estudiante del cual empieza con el desarrollo de software de una manera básica es el no uso de métricas que pueden ayudar a la calidad del código en la cual nosotros queremos implementar, es por eso que el programa actual del cual ya está desarrollado no cuenta con un uso correcto de métricas, por lo tanto, este código siempre puede optar por mejorar. </a:t>
            </a:r>
          </a:p>
          <a:p>
            <a:endParaRPr lang="es-ES" sz="2000"/>
          </a:p>
          <a:p>
            <a:r>
              <a:rPr lang="es-ES" sz="2000"/>
              <a:t>La actualización de este código no debe afectar al funcionamiento del programa, pero sí a su rendimiento. Dicho esto, el código fuente actual puede ser mejorable. </a:t>
            </a:r>
            <a:endParaRPr lang="es-ES" sz="2000">
              <a:cs typeface="Calibri"/>
            </a:endParaRPr>
          </a:p>
        </p:txBody>
      </p:sp>
      <p:sp>
        <p:nvSpPr>
          <p:cNvPr id="4" name="Rectángulo 3">
            <a:extLst>
              <a:ext uri="{FF2B5EF4-FFF2-40B4-BE49-F238E27FC236}">
                <a16:creationId xmlns:a16="http://schemas.microsoft.com/office/drawing/2014/main" id="{927DC950-8E72-4FF5-A5BF-E75194DA462F}"/>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026" name="Picture 2" descr="COMO SOLUCIONAR LOS PROBLEMAS – Liderazgo y Equilibrio">
            <a:extLst>
              <a:ext uri="{FF2B5EF4-FFF2-40B4-BE49-F238E27FC236}">
                <a16:creationId xmlns:a16="http://schemas.microsoft.com/office/drawing/2014/main" id="{BB0DAC4B-8CED-46EE-9B09-3767307753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2113" y="1781131"/>
            <a:ext cx="3048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988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91C4B598-75A1-4359-AE8F-74F29F317444}"/>
              </a:ext>
            </a:extLst>
          </p:cNvPr>
          <p:cNvSpPr txBox="1"/>
          <p:nvPr/>
        </p:nvSpPr>
        <p:spPr>
          <a:xfrm>
            <a:off x="547109" y="503972"/>
            <a:ext cx="6098459"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3.   JUSTIFICACIÓN</a:t>
            </a:r>
            <a:endParaRPr lang="es-PE" sz="2000">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108ED8F6-0DA1-4DF6-BF4A-85CFF174E34C}"/>
              </a:ext>
            </a:extLst>
          </p:cNvPr>
          <p:cNvSpPr txBox="1"/>
          <p:nvPr/>
        </p:nvSpPr>
        <p:spPr>
          <a:xfrm>
            <a:off x="1569428" y="1023372"/>
            <a:ext cx="3547695" cy="400110"/>
          </a:xfrm>
          <a:prstGeom prst="rect">
            <a:avLst/>
          </a:prstGeom>
          <a:noFill/>
        </p:spPr>
        <p:txBody>
          <a:bodyPr wrap="square">
            <a:spAutoFit/>
          </a:bodyPr>
          <a:lstStyle/>
          <a:p>
            <a:r>
              <a:rPr lang="es-ES" sz="2000" b="1" i="1">
                <a:latin typeface="Times New Roman" panose="02020603050405020304" pitchFamily="18" charset="0"/>
                <a:cs typeface="Times New Roman" panose="02020603050405020304" pitchFamily="18" charset="0"/>
              </a:rPr>
              <a:t>¿Qué es lo que vamos de hacer? </a:t>
            </a:r>
            <a:endParaRPr lang="es-PE" sz="2000" b="1" i="1">
              <a:latin typeface="Times New Roman" panose="02020603050405020304" pitchFamily="18" charset="0"/>
              <a:cs typeface="Times New Roman" panose="02020603050405020304" pitchFamily="18" charset="0"/>
            </a:endParaRPr>
          </a:p>
        </p:txBody>
      </p:sp>
      <p:sp>
        <p:nvSpPr>
          <p:cNvPr id="11" name="CuadroTexto 10">
            <a:extLst>
              <a:ext uri="{FF2B5EF4-FFF2-40B4-BE49-F238E27FC236}">
                <a16:creationId xmlns:a16="http://schemas.microsoft.com/office/drawing/2014/main" id="{2BBA6C0E-49DA-4F8A-A716-D91FA4EA4C04}"/>
              </a:ext>
            </a:extLst>
          </p:cNvPr>
          <p:cNvSpPr txBox="1"/>
          <p:nvPr/>
        </p:nvSpPr>
        <p:spPr>
          <a:xfrm>
            <a:off x="6748609" y="1023372"/>
            <a:ext cx="2812171" cy="400110"/>
          </a:xfrm>
          <a:prstGeom prst="rect">
            <a:avLst/>
          </a:prstGeom>
          <a:noFill/>
        </p:spPr>
        <p:txBody>
          <a:bodyPr wrap="square" lIns="91440" tIns="45720" rIns="91440" bIns="45720" anchor="t">
            <a:spAutoFit/>
          </a:bodyPr>
          <a:lstStyle/>
          <a:p>
            <a:r>
              <a:rPr lang="es-ES" sz="2000" b="1" i="1">
                <a:latin typeface="Times New Roman"/>
                <a:cs typeface="Times New Roman"/>
              </a:rPr>
              <a:t>¿Por qué se va a hacer? </a:t>
            </a:r>
            <a:endParaRPr lang="es-PE" sz="2000" b="1" i="1">
              <a:latin typeface="Times New Roman" panose="02020603050405020304" pitchFamily="18" charset="0"/>
              <a:cs typeface="Times New Roman" panose="02020603050405020304" pitchFamily="18" charset="0"/>
            </a:endParaRPr>
          </a:p>
        </p:txBody>
      </p:sp>
      <p:sp>
        <p:nvSpPr>
          <p:cNvPr id="15" name="CuadroTexto 14">
            <a:extLst>
              <a:ext uri="{FF2B5EF4-FFF2-40B4-BE49-F238E27FC236}">
                <a16:creationId xmlns:a16="http://schemas.microsoft.com/office/drawing/2014/main" id="{F6925FFF-A6B0-4F8D-A846-2D771529A77A}"/>
              </a:ext>
            </a:extLst>
          </p:cNvPr>
          <p:cNvSpPr txBox="1"/>
          <p:nvPr/>
        </p:nvSpPr>
        <p:spPr>
          <a:xfrm>
            <a:off x="6661286" y="3113078"/>
            <a:ext cx="3795795" cy="400110"/>
          </a:xfrm>
          <a:prstGeom prst="rect">
            <a:avLst/>
          </a:prstGeom>
          <a:noFill/>
        </p:spPr>
        <p:txBody>
          <a:bodyPr wrap="square" lIns="91440" tIns="45720" rIns="91440" bIns="45720" anchor="t">
            <a:spAutoFit/>
          </a:bodyPr>
          <a:lstStyle/>
          <a:p>
            <a:r>
              <a:rPr lang="es-ES" sz="2000" b="1" i="1">
                <a:latin typeface="Times New Roman"/>
                <a:cs typeface="Times New Roman"/>
              </a:rPr>
              <a:t>¿Para qué se va a hacer? </a:t>
            </a:r>
            <a:endParaRPr lang="es-PE" sz="2000" b="1" i="1">
              <a:latin typeface="Times New Roman" panose="02020603050405020304" pitchFamily="18" charset="0"/>
              <a:cs typeface="Times New Roman" panose="02020603050405020304" pitchFamily="18" charset="0"/>
            </a:endParaRPr>
          </a:p>
        </p:txBody>
      </p:sp>
      <p:sp>
        <p:nvSpPr>
          <p:cNvPr id="17" name="CuadroTexto 16">
            <a:extLst>
              <a:ext uri="{FF2B5EF4-FFF2-40B4-BE49-F238E27FC236}">
                <a16:creationId xmlns:a16="http://schemas.microsoft.com/office/drawing/2014/main" id="{C83CFCE3-ECD4-4E7C-B05E-884E005A6289}"/>
              </a:ext>
            </a:extLst>
          </p:cNvPr>
          <p:cNvSpPr txBox="1"/>
          <p:nvPr/>
        </p:nvSpPr>
        <p:spPr>
          <a:xfrm>
            <a:off x="1806323" y="3113078"/>
            <a:ext cx="2926043" cy="400110"/>
          </a:xfrm>
          <a:prstGeom prst="rect">
            <a:avLst/>
          </a:prstGeom>
          <a:noFill/>
        </p:spPr>
        <p:txBody>
          <a:bodyPr wrap="square" lIns="91440" tIns="45720" rIns="91440" bIns="45720" anchor="t">
            <a:spAutoFit/>
          </a:bodyPr>
          <a:lstStyle/>
          <a:p>
            <a:pPr algn="just">
              <a:spcAft>
                <a:spcPts val="600"/>
              </a:spcAft>
            </a:pPr>
            <a:r>
              <a:rPr lang="es-PE" sz="2000" b="1" i="1">
                <a:effectLst/>
                <a:latin typeface="Times New Roman"/>
                <a:ea typeface="Calibri" panose="020F0502020204030204" pitchFamily="34" charset="0"/>
                <a:cs typeface="Symbol" panose="05050102010706020507" pitchFamily="18" charset="2"/>
              </a:rPr>
              <a:t>¿Cómo se va </a:t>
            </a:r>
            <a:r>
              <a:rPr lang="es-PE" sz="2000" b="1" i="1">
                <a:latin typeface="Times New Roman"/>
                <a:ea typeface="Calibri" panose="020F0502020204030204" pitchFamily="34" charset="0"/>
                <a:cs typeface="Symbol" panose="05050102010706020507" pitchFamily="18" charset="2"/>
              </a:rPr>
              <a:t>a </a:t>
            </a:r>
            <a:r>
              <a:rPr lang="es-PE" sz="2000" b="1" i="1">
                <a:effectLst/>
                <a:latin typeface="Times New Roman"/>
                <a:ea typeface="Calibri" panose="020F0502020204030204" pitchFamily="34" charset="0"/>
                <a:cs typeface="Symbol" panose="05050102010706020507" pitchFamily="18" charset="2"/>
              </a:rPr>
              <a:t>hacer?</a:t>
            </a:r>
            <a:r>
              <a:rPr lang="es-PE" sz="2000" b="1" i="1">
                <a:latin typeface="Times New Roman"/>
                <a:ea typeface="Calibri" panose="020F0502020204030204" pitchFamily="34" charset="0"/>
                <a:cs typeface="Symbol" panose="05050102010706020507" pitchFamily="18" charset="2"/>
              </a:rPr>
              <a:t> </a:t>
            </a:r>
            <a:endParaRPr lang="es-PE" b="1" i="1">
              <a:effectLst/>
              <a:latin typeface="Calibri"/>
              <a:ea typeface="Calibri" panose="020F0502020204030204" pitchFamily="34" charset="0"/>
              <a:cs typeface="Symbol" panose="05050102010706020507" pitchFamily="18" charset="2"/>
            </a:endParaRPr>
          </a:p>
        </p:txBody>
      </p:sp>
      <p:sp>
        <p:nvSpPr>
          <p:cNvPr id="21" name="CuadroTexto 20">
            <a:extLst>
              <a:ext uri="{FF2B5EF4-FFF2-40B4-BE49-F238E27FC236}">
                <a16:creationId xmlns:a16="http://schemas.microsoft.com/office/drawing/2014/main" id="{3712CA28-64AC-48E3-9144-80DF6D61669A}"/>
              </a:ext>
            </a:extLst>
          </p:cNvPr>
          <p:cNvSpPr txBox="1"/>
          <p:nvPr/>
        </p:nvSpPr>
        <p:spPr>
          <a:xfrm>
            <a:off x="1303459" y="5190698"/>
            <a:ext cx="7627327" cy="400110"/>
          </a:xfrm>
          <a:prstGeom prst="rect">
            <a:avLst/>
          </a:prstGeom>
          <a:noFill/>
        </p:spPr>
        <p:txBody>
          <a:bodyPr wrap="square">
            <a:spAutoFit/>
          </a:bodyPr>
          <a:lstStyle/>
          <a:p>
            <a:r>
              <a:rPr lang="es-ES" sz="2000" b="1" i="1">
                <a:latin typeface="Times New Roman" panose="02020603050405020304" pitchFamily="18" charset="0"/>
                <a:cs typeface="Times New Roman" panose="02020603050405020304" pitchFamily="18" charset="0"/>
              </a:rPr>
              <a:t>¿Por qué es importante este trabajo de unidad? </a:t>
            </a:r>
            <a:endParaRPr lang="es-PE" sz="2000" b="1" i="1">
              <a:latin typeface="Times New Roman" panose="02020603050405020304" pitchFamily="18" charset="0"/>
              <a:cs typeface="Times New Roman" panose="02020603050405020304" pitchFamily="18" charset="0"/>
            </a:endParaRPr>
          </a:p>
        </p:txBody>
      </p:sp>
      <p:sp>
        <p:nvSpPr>
          <p:cNvPr id="25" name="CuadroTexto 24">
            <a:extLst>
              <a:ext uri="{FF2B5EF4-FFF2-40B4-BE49-F238E27FC236}">
                <a16:creationId xmlns:a16="http://schemas.microsoft.com/office/drawing/2014/main" id="{F8A21E85-A390-402A-8674-F6BBE518C90C}"/>
              </a:ext>
            </a:extLst>
          </p:cNvPr>
          <p:cNvSpPr txBox="1"/>
          <p:nvPr/>
        </p:nvSpPr>
        <p:spPr>
          <a:xfrm>
            <a:off x="1358412" y="1749730"/>
            <a:ext cx="4233496" cy="923330"/>
          </a:xfrm>
          <a:prstGeom prst="rect">
            <a:avLst/>
          </a:prstGeom>
          <a:noFill/>
        </p:spPr>
        <p:txBody>
          <a:bodyPr wrap="square">
            <a:spAutoFit/>
          </a:bodyPr>
          <a:lstStyle/>
          <a:p>
            <a:r>
              <a:rPr lang="es-ES"/>
              <a:t>Una mejora al código fuente del sistema Veterinaria PET’S PLANET con la herramienta SonarQube.</a:t>
            </a:r>
            <a:endParaRPr lang="es-PE"/>
          </a:p>
        </p:txBody>
      </p:sp>
      <p:sp>
        <p:nvSpPr>
          <p:cNvPr id="29" name="CuadroTexto 28">
            <a:extLst>
              <a:ext uri="{FF2B5EF4-FFF2-40B4-BE49-F238E27FC236}">
                <a16:creationId xmlns:a16="http://schemas.microsoft.com/office/drawing/2014/main" id="{3DF39864-809D-41A6-BC62-BF9ABEDBC012}"/>
              </a:ext>
            </a:extLst>
          </p:cNvPr>
          <p:cNvSpPr txBox="1"/>
          <p:nvPr/>
        </p:nvSpPr>
        <p:spPr>
          <a:xfrm>
            <a:off x="6564926" y="1675960"/>
            <a:ext cx="3969726" cy="1200329"/>
          </a:xfrm>
          <a:prstGeom prst="rect">
            <a:avLst/>
          </a:prstGeom>
          <a:noFill/>
        </p:spPr>
        <p:txBody>
          <a:bodyPr wrap="square">
            <a:spAutoFit/>
          </a:bodyPr>
          <a:lstStyle/>
          <a:p>
            <a:r>
              <a:rPr lang="es-ES"/>
              <a:t>Porque con la aplicación SonarQube podremos mejorar el código actual de nuestro proyecto, sin modificar la interfaz del proyecto.</a:t>
            </a:r>
            <a:endParaRPr lang="es-PE"/>
          </a:p>
        </p:txBody>
      </p:sp>
      <p:sp>
        <p:nvSpPr>
          <p:cNvPr id="33" name="CuadroTexto 32">
            <a:extLst>
              <a:ext uri="{FF2B5EF4-FFF2-40B4-BE49-F238E27FC236}">
                <a16:creationId xmlns:a16="http://schemas.microsoft.com/office/drawing/2014/main" id="{EE4A38C5-DE87-4C68-A36E-52AB38C606A1}"/>
              </a:ext>
            </a:extLst>
          </p:cNvPr>
          <p:cNvSpPr txBox="1"/>
          <p:nvPr/>
        </p:nvSpPr>
        <p:spPr>
          <a:xfrm>
            <a:off x="6656552" y="3820476"/>
            <a:ext cx="3795795" cy="1200329"/>
          </a:xfrm>
          <a:prstGeom prst="rect">
            <a:avLst/>
          </a:prstGeom>
          <a:noFill/>
        </p:spPr>
        <p:txBody>
          <a:bodyPr wrap="square">
            <a:spAutoFit/>
          </a:bodyPr>
          <a:lstStyle/>
          <a:p>
            <a:r>
              <a:rPr lang="es-ES"/>
              <a:t>Para tener un mejor rendimiento del programa, y utilizar la herramienta que aprendimos a lo largo de la unidad, SonarQube.</a:t>
            </a:r>
            <a:endParaRPr lang="es-PE"/>
          </a:p>
        </p:txBody>
      </p:sp>
      <p:sp>
        <p:nvSpPr>
          <p:cNvPr id="37" name="CuadroTexto 36">
            <a:extLst>
              <a:ext uri="{FF2B5EF4-FFF2-40B4-BE49-F238E27FC236}">
                <a16:creationId xmlns:a16="http://schemas.microsoft.com/office/drawing/2014/main" id="{ACB4E3E3-D6DF-4235-8590-D54F04AB5BA2}"/>
              </a:ext>
            </a:extLst>
          </p:cNvPr>
          <p:cNvSpPr txBox="1"/>
          <p:nvPr/>
        </p:nvSpPr>
        <p:spPr>
          <a:xfrm>
            <a:off x="1222306" y="3794801"/>
            <a:ext cx="4233496" cy="1200329"/>
          </a:xfrm>
          <a:prstGeom prst="rect">
            <a:avLst/>
          </a:prstGeom>
          <a:noFill/>
        </p:spPr>
        <p:txBody>
          <a:bodyPr wrap="square">
            <a:spAutoFit/>
          </a:bodyPr>
          <a:lstStyle/>
          <a:p>
            <a:r>
              <a:rPr lang="es-ES"/>
              <a:t>Utilizando la herramienta SonarQube, y en la cual utilizaremos nuestros conocimientos aprendidos en el transcurso del curso para la mejora del software.</a:t>
            </a:r>
            <a:endParaRPr lang="es-PE"/>
          </a:p>
        </p:txBody>
      </p:sp>
      <p:sp>
        <p:nvSpPr>
          <p:cNvPr id="41" name="CuadroTexto 40">
            <a:extLst>
              <a:ext uri="{FF2B5EF4-FFF2-40B4-BE49-F238E27FC236}">
                <a16:creationId xmlns:a16="http://schemas.microsoft.com/office/drawing/2014/main" id="{3939040A-A4F4-420D-BAEE-2BC98B285602}"/>
              </a:ext>
            </a:extLst>
          </p:cNvPr>
          <p:cNvSpPr txBox="1"/>
          <p:nvPr/>
        </p:nvSpPr>
        <p:spPr>
          <a:xfrm>
            <a:off x="1358411" y="5707000"/>
            <a:ext cx="9422426" cy="369332"/>
          </a:xfrm>
          <a:prstGeom prst="rect">
            <a:avLst/>
          </a:prstGeom>
          <a:noFill/>
        </p:spPr>
        <p:txBody>
          <a:bodyPr wrap="square">
            <a:spAutoFit/>
          </a:bodyPr>
          <a:lstStyle/>
          <a:p>
            <a:r>
              <a:rPr lang="es-ES"/>
              <a:t>Porque mejora el actual código fuente y como consecuencia aumenta el rendimiento del sistema.</a:t>
            </a:r>
            <a:endParaRPr lang="es-PE"/>
          </a:p>
        </p:txBody>
      </p:sp>
      <p:pic>
        <p:nvPicPr>
          <p:cNvPr id="2050" name="Picture 2" descr="Herramientas Básicas para la Investigación Educativa : Justificación">
            <a:extLst>
              <a:ext uri="{FF2B5EF4-FFF2-40B4-BE49-F238E27FC236}">
                <a16:creationId xmlns:a16="http://schemas.microsoft.com/office/drawing/2014/main" id="{A2490415-32D6-4096-94BF-2C1784AA4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1197" y="293224"/>
            <a:ext cx="1729007" cy="1729007"/>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B2E43839-07BE-42B7-A017-2713956D1DD7}"/>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681838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020C53-7425-495E-B2A6-D0CC67184B6E}"/>
              </a:ext>
            </a:extLst>
          </p:cNvPr>
          <p:cNvSpPr txBox="1"/>
          <p:nvPr/>
        </p:nvSpPr>
        <p:spPr>
          <a:xfrm>
            <a:off x="547109" y="503972"/>
            <a:ext cx="6098459"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4.   ALCANCE</a:t>
            </a:r>
            <a:endParaRPr lang="es-PE" sz="2000" b="1">
              <a:latin typeface="Calibri" panose="020F050202020403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17EA33FF-1237-45BB-9C23-1EAD1C907D08}"/>
              </a:ext>
            </a:extLst>
          </p:cNvPr>
          <p:cNvSpPr txBox="1"/>
          <p:nvPr/>
        </p:nvSpPr>
        <p:spPr>
          <a:xfrm>
            <a:off x="4975902" y="1536174"/>
            <a:ext cx="6083184" cy="3785652"/>
          </a:xfrm>
          <a:prstGeom prst="rect">
            <a:avLst/>
          </a:prstGeom>
          <a:noFill/>
        </p:spPr>
        <p:txBody>
          <a:bodyPr wrap="square">
            <a:spAutoFit/>
          </a:bodyPr>
          <a:lstStyle/>
          <a:p>
            <a:pPr marL="342900" lvl="0" indent="-342900" algn="just">
              <a:spcAft>
                <a:spcPts val="0"/>
              </a:spcAft>
              <a:buFont typeface="Symbol" panose="05050102010706020507" pitchFamily="18" charset="2"/>
              <a:buChar char=""/>
            </a:pPr>
            <a:r>
              <a:rPr lang="es-PE" sz="2400">
                <a:effectLst/>
                <a:latin typeface="Times New Roman" panose="02020603050405020304" pitchFamily="18" charset="0"/>
                <a:ea typeface="Calibri" panose="020F0502020204030204" pitchFamily="34" charset="0"/>
                <a:cs typeface="Symbol" panose="05050102010706020507" pitchFamily="18" charset="2"/>
              </a:rPr>
              <a:t>El plan de mejora optimizara la calidad del software.</a:t>
            </a:r>
            <a:endParaRPr lang="es-PE" sz="2400">
              <a:effectLst/>
              <a:latin typeface="Calibri" panose="020F0502020204030204" pitchFamily="34" charset="0"/>
              <a:ea typeface="Calibri" panose="020F0502020204030204" pitchFamily="34" charset="0"/>
              <a:cs typeface="Symbol" panose="05050102010706020507" pitchFamily="18" charset="2"/>
            </a:endParaRPr>
          </a:p>
          <a:p>
            <a:pPr marL="342900" lvl="0" indent="-342900" algn="just">
              <a:spcAft>
                <a:spcPts val="0"/>
              </a:spcAft>
              <a:buFont typeface="Symbol" panose="05050102010706020507" pitchFamily="18" charset="2"/>
              <a:buChar char=""/>
            </a:pPr>
            <a:r>
              <a:rPr lang="es-PE" sz="2400">
                <a:effectLst/>
                <a:latin typeface="Times New Roman" panose="02020603050405020304" pitchFamily="18" charset="0"/>
                <a:ea typeface="Calibri" panose="020F0502020204030204" pitchFamily="34" charset="0"/>
                <a:cs typeface="Symbol" panose="05050102010706020507" pitchFamily="18" charset="2"/>
              </a:rPr>
              <a:t>El plan de mejora lograra un código más legible.</a:t>
            </a:r>
            <a:endParaRPr lang="es-PE" sz="2400">
              <a:effectLst/>
              <a:latin typeface="Calibri" panose="020F0502020204030204" pitchFamily="34" charset="0"/>
              <a:ea typeface="Calibri" panose="020F0502020204030204" pitchFamily="34" charset="0"/>
              <a:cs typeface="Symbol" panose="05050102010706020507" pitchFamily="18" charset="2"/>
            </a:endParaRPr>
          </a:p>
          <a:p>
            <a:pPr marL="342900" lvl="0" indent="-342900" algn="just">
              <a:spcAft>
                <a:spcPts val="0"/>
              </a:spcAft>
              <a:buFont typeface="Symbol" panose="05050102010706020507" pitchFamily="18" charset="2"/>
              <a:buChar char=""/>
            </a:pPr>
            <a:r>
              <a:rPr lang="es-PE" sz="2400">
                <a:effectLst/>
                <a:latin typeface="Times New Roman" panose="02020603050405020304" pitchFamily="18" charset="0"/>
                <a:ea typeface="Calibri" panose="020F0502020204030204" pitchFamily="34" charset="0"/>
                <a:cs typeface="Symbol" panose="05050102010706020507" pitchFamily="18" charset="2"/>
              </a:rPr>
              <a:t>El plan de mejora obtendrá la mejora del código fuente.</a:t>
            </a:r>
            <a:endParaRPr lang="es-PE" sz="2400">
              <a:effectLst/>
              <a:latin typeface="Calibri" panose="020F0502020204030204" pitchFamily="34" charset="0"/>
              <a:ea typeface="Calibri" panose="020F0502020204030204" pitchFamily="34" charset="0"/>
              <a:cs typeface="Symbol" panose="05050102010706020507" pitchFamily="18" charset="2"/>
            </a:endParaRPr>
          </a:p>
          <a:p>
            <a:pPr marL="342900" lvl="0" indent="-342900" algn="just">
              <a:spcAft>
                <a:spcPts val="0"/>
              </a:spcAft>
              <a:buFont typeface="Symbol" panose="05050102010706020507" pitchFamily="18" charset="2"/>
              <a:buChar char=""/>
            </a:pPr>
            <a:r>
              <a:rPr lang="es-PE" sz="2400">
                <a:effectLst/>
                <a:latin typeface="Times New Roman" panose="02020603050405020304" pitchFamily="18" charset="0"/>
                <a:ea typeface="Calibri" panose="020F0502020204030204" pitchFamily="34" charset="0"/>
                <a:cs typeface="Symbol" panose="05050102010706020507" pitchFamily="18" charset="2"/>
              </a:rPr>
              <a:t>El plan de mejora incluye el uso de métricas para la obtención de un mejor código.</a:t>
            </a:r>
            <a:endParaRPr lang="es-PE" sz="2400">
              <a:effectLst/>
              <a:latin typeface="Calibri" panose="020F0502020204030204" pitchFamily="34" charset="0"/>
              <a:ea typeface="Calibri" panose="020F0502020204030204" pitchFamily="34" charset="0"/>
              <a:cs typeface="Symbol" panose="05050102010706020507" pitchFamily="18" charset="2"/>
            </a:endParaRPr>
          </a:p>
          <a:p>
            <a:pPr marL="342900" lvl="0" indent="-342900" algn="just">
              <a:spcAft>
                <a:spcPts val="600"/>
              </a:spcAft>
              <a:buFont typeface="Symbol" panose="05050102010706020507" pitchFamily="18" charset="2"/>
              <a:buChar char=""/>
            </a:pPr>
            <a:r>
              <a:rPr lang="es-PE" sz="2400">
                <a:effectLst/>
                <a:latin typeface="Times New Roman" panose="02020603050405020304" pitchFamily="18" charset="0"/>
                <a:ea typeface="Calibri" panose="020F0502020204030204" pitchFamily="34" charset="0"/>
                <a:cs typeface="Symbol" panose="05050102010706020507" pitchFamily="18" charset="2"/>
              </a:rPr>
              <a:t>El plan de mejora no incluye una nueva vista sino una mejora en el ámbito de BackEnd.</a:t>
            </a:r>
            <a:endParaRPr lang="es-PE" sz="2400">
              <a:effectLst/>
              <a:latin typeface="Calibri" panose="020F0502020204030204" pitchFamily="34" charset="0"/>
              <a:ea typeface="Calibri" panose="020F0502020204030204" pitchFamily="34" charset="0"/>
              <a:cs typeface="Symbol" panose="05050102010706020507" pitchFamily="18" charset="2"/>
            </a:endParaRPr>
          </a:p>
        </p:txBody>
      </p:sp>
      <p:sp>
        <p:nvSpPr>
          <p:cNvPr id="5" name="Rectángulo 4">
            <a:extLst>
              <a:ext uri="{FF2B5EF4-FFF2-40B4-BE49-F238E27FC236}">
                <a16:creationId xmlns:a16="http://schemas.microsoft.com/office/drawing/2014/main" id="{9193291A-D8AD-44F5-9718-9EBBD05DC736}"/>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050" name="Picture 2" descr="alcance de anuncios sociales - Iconos gratis de social">
            <a:extLst>
              <a:ext uri="{FF2B5EF4-FFF2-40B4-BE49-F238E27FC236}">
                <a16:creationId xmlns:a16="http://schemas.microsoft.com/office/drawing/2014/main" id="{F187DBAB-F0A8-46FE-8AB7-4E3696D105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985" y="1618452"/>
            <a:ext cx="3242523" cy="3242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04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020C53-7425-495E-B2A6-D0CC67184B6E}"/>
              </a:ext>
            </a:extLst>
          </p:cNvPr>
          <p:cNvSpPr txBox="1"/>
          <p:nvPr/>
        </p:nvSpPr>
        <p:spPr>
          <a:xfrm>
            <a:off x="547109" y="503972"/>
            <a:ext cx="6098459"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5. OBJETIVOS</a:t>
            </a:r>
            <a:endParaRPr lang="es-PE" sz="2000" b="1">
              <a:latin typeface="Calibri" panose="020F050202020403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86518ED3-CD66-414C-87EB-B2009B2E2049}"/>
              </a:ext>
            </a:extLst>
          </p:cNvPr>
          <p:cNvSpPr txBox="1"/>
          <p:nvPr/>
        </p:nvSpPr>
        <p:spPr>
          <a:xfrm>
            <a:off x="1446335" y="1468287"/>
            <a:ext cx="6093068" cy="369332"/>
          </a:xfrm>
          <a:prstGeom prst="rect">
            <a:avLst/>
          </a:prstGeom>
          <a:noFill/>
        </p:spPr>
        <p:txBody>
          <a:bodyPr wrap="square">
            <a:spAutoFit/>
          </a:bodyPr>
          <a:lstStyle/>
          <a:p>
            <a:pPr marL="342900" lvl="0" indent="-342900" algn="just">
              <a:spcAft>
                <a:spcPts val="600"/>
              </a:spcAft>
              <a:buFont typeface="+mj-lt"/>
              <a:buAutoNum type="alphaUcPeriod"/>
            </a:pPr>
            <a:r>
              <a:rPr lang="es-PE" sz="1800">
                <a:effectLst/>
                <a:latin typeface="Times New Roman" panose="02020603050405020304" pitchFamily="18" charset="0"/>
                <a:ea typeface="Calibri" panose="020F0502020204030204" pitchFamily="34" charset="0"/>
                <a:cs typeface="Times New Roman" panose="02020603050405020304" pitchFamily="18" charset="0"/>
              </a:rPr>
              <a:t>GENERAL</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5BCBC2E5-C849-47CA-BAD9-B6D7AF7D9DE8}"/>
              </a:ext>
            </a:extLst>
          </p:cNvPr>
          <p:cNvSpPr txBox="1"/>
          <p:nvPr/>
        </p:nvSpPr>
        <p:spPr>
          <a:xfrm>
            <a:off x="2184889" y="2052935"/>
            <a:ext cx="7205296" cy="646331"/>
          </a:xfrm>
          <a:prstGeom prst="rect">
            <a:avLst/>
          </a:prstGeom>
          <a:noFill/>
        </p:spPr>
        <p:txBody>
          <a:bodyPr wrap="square">
            <a:spAutoFit/>
          </a:bodyPr>
          <a:lstStyle/>
          <a:p>
            <a:r>
              <a:rPr lang="es-ES"/>
              <a:t>Mejorar el código fuente el programa “Veterinaria PET’S PLANET” usando los conocimientos aprendidos y de la herramienta SonarQube</a:t>
            </a:r>
            <a:endParaRPr lang="es-PE"/>
          </a:p>
        </p:txBody>
      </p:sp>
      <p:sp>
        <p:nvSpPr>
          <p:cNvPr id="11" name="CuadroTexto 10">
            <a:extLst>
              <a:ext uri="{FF2B5EF4-FFF2-40B4-BE49-F238E27FC236}">
                <a16:creationId xmlns:a16="http://schemas.microsoft.com/office/drawing/2014/main" id="{7A1DDA79-7742-45F3-8836-4F6056F6F178}"/>
              </a:ext>
            </a:extLst>
          </p:cNvPr>
          <p:cNvSpPr txBox="1"/>
          <p:nvPr/>
        </p:nvSpPr>
        <p:spPr>
          <a:xfrm>
            <a:off x="1446335" y="3059668"/>
            <a:ext cx="6093068" cy="369332"/>
          </a:xfrm>
          <a:prstGeom prst="rect">
            <a:avLst/>
          </a:prstGeom>
          <a:noFill/>
        </p:spPr>
        <p:txBody>
          <a:bodyPr wrap="square">
            <a:spAutoFit/>
          </a:bodyPr>
          <a:lstStyle/>
          <a:p>
            <a:pPr lvl="0" algn="just">
              <a:spcAft>
                <a:spcPts val="600"/>
              </a:spcAft>
            </a:pPr>
            <a:r>
              <a:rPr lang="es-PE">
                <a:latin typeface="Times New Roman" panose="02020603050405020304" pitchFamily="18" charset="0"/>
                <a:ea typeface="Calibri" panose="020F0502020204030204" pitchFamily="34" charset="0"/>
                <a:cs typeface="Times New Roman" panose="02020603050405020304" pitchFamily="18" charset="0"/>
              </a:rPr>
              <a:t>B.   </a:t>
            </a:r>
            <a:r>
              <a:rPr lang="es-PE" sz="1800">
                <a:effectLst/>
                <a:latin typeface="Times New Roman" panose="02020603050405020304" pitchFamily="18" charset="0"/>
                <a:ea typeface="Calibri" panose="020F0502020204030204" pitchFamily="34" charset="0"/>
                <a:cs typeface="Times New Roman" panose="02020603050405020304" pitchFamily="18" charset="0"/>
              </a:rPr>
              <a:t>ESPECÍFICOS</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CuadroTexto 14">
            <a:extLst>
              <a:ext uri="{FF2B5EF4-FFF2-40B4-BE49-F238E27FC236}">
                <a16:creationId xmlns:a16="http://schemas.microsoft.com/office/drawing/2014/main" id="{0C8ACCDE-71E9-42A5-BAE8-C90C815EE44B}"/>
              </a:ext>
            </a:extLst>
          </p:cNvPr>
          <p:cNvSpPr txBox="1"/>
          <p:nvPr/>
        </p:nvSpPr>
        <p:spPr>
          <a:xfrm>
            <a:off x="2184890" y="3615624"/>
            <a:ext cx="6413988" cy="1754326"/>
          </a:xfrm>
          <a:prstGeom prst="rect">
            <a:avLst/>
          </a:prstGeom>
          <a:noFill/>
        </p:spPr>
        <p:txBody>
          <a:bodyPr wrap="square">
            <a:spAutoFit/>
          </a:bodyPr>
          <a:lstStyle/>
          <a:p>
            <a:pPr marL="342900" indent="-342900">
              <a:buFont typeface="Wingdings" panose="05000000000000000000" pitchFamily="2" charset="2"/>
              <a:buChar char="ü"/>
            </a:pPr>
            <a:r>
              <a:rPr lang="es-ES"/>
              <a:t>Que el rendimiento del sistema se vea incrementado gracias a la mejora del código fuente realizado.</a:t>
            </a:r>
          </a:p>
          <a:p>
            <a:pPr marL="342900" indent="-342900">
              <a:buFont typeface="Wingdings" panose="05000000000000000000" pitchFamily="2" charset="2"/>
              <a:buChar char="ü"/>
            </a:pPr>
            <a:endParaRPr lang="es-ES"/>
          </a:p>
          <a:p>
            <a:pPr marL="342900" indent="-342900">
              <a:buFont typeface="Wingdings" panose="05000000000000000000" pitchFamily="2" charset="2"/>
              <a:buChar char="ü"/>
            </a:pPr>
            <a:r>
              <a:rPr lang="es-ES"/>
              <a:t>Aprender de las métricas que utiliza la herramienta para que nuestros códigos futuros sean más limpios, reutilizables y modificables.</a:t>
            </a:r>
          </a:p>
        </p:txBody>
      </p:sp>
      <p:sp>
        <p:nvSpPr>
          <p:cNvPr id="7" name="Rectángulo 6">
            <a:extLst>
              <a:ext uri="{FF2B5EF4-FFF2-40B4-BE49-F238E27FC236}">
                <a16:creationId xmlns:a16="http://schemas.microsoft.com/office/drawing/2014/main" id="{C3162E08-BE23-40DA-9B84-EC80EFA60554}"/>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3074" name="Picture 2" descr="Ilustración Objetivo PNG transparente - StickPNG">
            <a:extLst>
              <a:ext uri="{FF2B5EF4-FFF2-40B4-BE49-F238E27FC236}">
                <a16:creationId xmlns:a16="http://schemas.microsoft.com/office/drawing/2014/main" id="{522B2B8C-7FCD-4B50-833C-5A6462270E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688" y="4158735"/>
            <a:ext cx="3096846" cy="2272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226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020C53-7425-495E-B2A6-D0CC67184B6E}"/>
              </a:ext>
            </a:extLst>
          </p:cNvPr>
          <p:cNvSpPr txBox="1"/>
          <p:nvPr/>
        </p:nvSpPr>
        <p:spPr>
          <a:xfrm>
            <a:off x="547109" y="503972"/>
            <a:ext cx="6098459"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6. REFERENTES TEORICOS</a:t>
            </a:r>
            <a:endParaRPr lang="es-PE" sz="2000" b="1">
              <a:latin typeface="Calibri" panose="020F0502020204030204" pitchFamily="34" charset="0"/>
              <a:ea typeface="Calibri" panose="020F0502020204030204" pitchFamily="34" charset="0"/>
              <a:cs typeface="Times New Roman" panose="02020603050405020304" pitchFamily="18" charset="0"/>
            </a:endParaRPr>
          </a:p>
        </p:txBody>
      </p:sp>
      <p:sp>
        <p:nvSpPr>
          <p:cNvPr id="10" name="CuadroTexto 9">
            <a:extLst>
              <a:ext uri="{FF2B5EF4-FFF2-40B4-BE49-F238E27FC236}">
                <a16:creationId xmlns:a16="http://schemas.microsoft.com/office/drawing/2014/main" id="{5CAD01F5-5BE9-45D7-97C4-ECB7560297A3}"/>
              </a:ext>
            </a:extLst>
          </p:cNvPr>
          <p:cNvSpPr txBox="1"/>
          <p:nvPr/>
        </p:nvSpPr>
        <p:spPr>
          <a:xfrm>
            <a:off x="3560609" y="1983558"/>
            <a:ext cx="7772401" cy="2585323"/>
          </a:xfrm>
          <a:prstGeom prst="rect">
            <a:avLst/>
          </a:prstGeom>
          <a:noFill/>
        </p:spPr>
        <p:txBody>
          <a:bodyPr wrap="square">
            <a:spAutoFit/>
          </a:bodyPr>
          <a:lstStyle/>
          <a:p>
            <a:r>
              <a:rPr lang="es-ES"/>
              <a:t>Un componente de software debe diseñarse e implementarse de modo que pueda volverse a usar en muchos programas diferentes. Los modernos componentes reutilizables incorporan tanto los datos como el procesamiento que</a:t>
            </a:r>
          </a:p>
          <a:p>
            <a:r>
              <a:rPr lang="es-ES"/>
              <a:t>se les aplica, lo que permite que el ingeniero de software cree nuevas aplicaciones a partir de partes susceptibles de volverse a usar[1].</a:t>
            </a:r>
          </a:p>
          <a:p>
            <a:endParaRPr lang="es-ES"/>
          </a:p>
          <a:p>
            <a:r>
              <a:rPr lang="es-ES"/>
              <a:t>El mejoramiento del proceso de Software abarca un conjunto de actividades que conducirán a un mejor proceso de software y, en consecuencia, a software de mayor calidad y a su entrega en forma más oportuna[2].</a:t>
            </a:r>
            <a:endParaRPr lang="es-PE"/>
          </a:p>
        </p:txBody>
      </p:sp>
      <p:sp>
        <p:nvSpPr>
          <p:cNvPr id="12" name="Rectángulo 11">
            <a:extLst>
              <a:ext uri="{FF2B5EF4-FFF2-40B4-BE49-F238E27FC236}">
                <a16:creationId xmlns:a16="http://schemas.microsoft.com/office/drawing/2014/main" id="{1AB15532-4061-4DB8-854F-BE11BC428B66}"/>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4098" name="Picture 2" descr="REFERENTES TEÓRICOS">
            <a:extLst>
              <a:ext uri="{FF2B5EF4-FFF2-40B4-BE49-F238E27FC236}">
                <a16:creationId xmlns:a16="http://schemas.microsoft.com/office/drawing/2014/main" id="{1CD27C7C-CBC0-4DEE-BC7C-D6971D10A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380" y="1983558"/>
            <a:ext cx="2703797" cy="2254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010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020C53-7425-495E-B2A6-D0CC67184B6E}"/>
              </a:ext>
            </a:extLst>
          </p:cNvPr>
          <p:cNvSpPr txBox="1"/>
          <p:nvPr/>
        </p:nvSpPr>
        <p:spPr>
          <a:xfrm>
            <a:off x="547109" y="503972"/>
            <a:ext cx="7928676"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7.</a:t>
            </a:r>
            <a:r>
              <a:rPr lang="es-ES" sz="2400" b="1">
                <a:latin typeface="Times New Roman" panose="02020603050405020304" pitchFamily="18" charset="0"/>
                <a:ea typeface="Calibri" panose="020F0502020204030204" pitchFamily="34" charset="0"/>
                <a:cs typeface="Times New Roman" panose="02020603050405020304" pitchFamily="18" charset="0"/>
              </a:rPr>
              <a:t>  DESARROLLO DE LA PROPUESTA</a:t>
            </a:r>
            <a:endParaRPr lang="es-PE" sz="2000" b="1">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F12824D5-5AF1-41F4-9BE5-829AF38BF844}"/>
              </a:ext>
            </a:extLst>
          </p:cNvPr>
          <p:cNvSpPr txBox="1"/>
          <p:nvPr/>
        </p:nvSpPr>
        <p:spPr>
          <a:xfrm>
            <a:off x="760535" y="1380365"/>
            <a:ext cx="6093068" cy="369332"/>
          </a:xfrm>
          <a:prstGeom prst="rect">
            <a:avLst/>
          </a:prstGeom>
          <a:noFill/>
        </p:spPr>
        <p:txBody>
          <a:bodyPr wrap="square">
            <a:spAutoFit/>
          </a:bodyPr>
          <a:lstStyle/>
          <a:p>
            <a:pPr marL="742950" lvl="1" indent="-285750" algn="just">
              <a:spcAft>
                <a:spcPts val="600"/>
              </a:spcAft>
              <a:buFont typeface="+mj-lt"/>
              <a:buAutoNum type="alphaUcPeriod"/>
            </a:pPr>
            <a:r>
              <a:rPr lang="es-PE" sz="1800">
                <a:effectLst/>
                <a:latin typeface="Times New Roman" panose="02020603050405020304" pitchFamily="18" charset="0"/>
                <a:ea typeface="Calibri" panose="020F0502020204030204" pitchFamily="34" charset="0"/>
                <a:cs typeface="Times New Roman" panose="02020603050405020304" pitchFamily="18" charset="0"/>
              </a:rPr>
              <a:t>TECNOLOGÍA DE LA INFORMACIÓN</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098" name="Picture 2" descr="Nuevas vulnerabilidades en MySQL permitirían el acceso completo a  servidores – Protegerse. Blog del laboratorio de Ontinet.com">
            <a:extLst>
              <a:ext uri="{FF2B5EF4-FFF2-40B4-BE49-F238E27FC236}">
                <a16:creationId xmlns:a16="http://schemas.microsoft.com/office/drawing/2014/main" id="{F27AB5D7-0C03-42A6-90FD-09D31DE6A1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065" y="2373922"/>
            <a:ext cx="2120989" cy="885825"/>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125987EB-495D-405F-90C8-747492618208}"/>
              </a:ext>
            </a:extLst>
          </p:cNvPr>
          <p:cNvSpPr txBox="1"/>
          <p:nvPr/>
        </p:nvSpPr>
        <p:spPr>
          <a:xfrm>
            <a:off x="1625111" y="2004590"/>
            <a:ext cx="1381858" cy="369332"/>
          </a:xfrm>
          <a:prstGeom prst="rect">
            <a:avLst/>
          </a:prstGeom>
          <a:noFill/>
        </p:spPr>
        <p:txBody>
          <a:bodyPr wrap="square">
            <a:spAutoFit/>
          </a:bodyPr>
          <a:lstStyle/>
          <a:p>
            <a:r>
              <a:rPr lang="es-PE"/>
              <a:t>1. MySQL</a:t>
            </a:r>
          </a:p>
        </p:txBody>
      </p:sp>
      <p:sp>
        <p:nvSpPr>
          <p:cNvPr id="17" name="CuadroTexto 16">
            <a:extLst>
              <a:ext uri="{FF2B5EF4-FFF2-40B4-BE49-F238E27FC236}">
                <a16:creationId xmlns:a16="http://schemas.microsoft.com/office/drawing/2014/main" id="{C494C982-834D-4848-98BE-CFE24E8B617A}"/>
              </a:ext>
            </a:extLst>
          </p:cNvPr>
          <p:cNvSpPr txBox="1"/>
          <p:nvPr/>
        </p:nvSpPr>
        <p:spPr>
          <a:xfrm>
            <a:off x="5311131" y="2004590"/>
            <a:ext cx="1839946" cy="369332"/>
          </a:xfrm>
          <a:prstGeom prst="rect">
            <a:avLst/>
          </a:prstGeom>
          <a:noFill/>
        </p:spPr>
        <p:txBody>
          <a:bodyPr wrap="square">
            <a:spAutoFit/>
          </a:bodyPr>
          <a:lstStyle/>
          <a:p>
            <a:r>
              <a:rPr lang="es-PE"/>
              <a:t>2. C# (C Sharp)</a:t>
            </a:r>
          </a:p>
        </p:txBody>
      </p:sp>
      <p:pic>
        <p:nvPicPr>
          <p:cNvPr id="4100" name="Picture 4">
            <a:extLst>
              <a:ext uri="{FF2B5EF4-FFF2-40B4-BE49-F238E27FC236}">
                <a16:creationId xmlns:a16="http://schemas.microsoft.com/office/drawing/2014/main" id="{BFA81617-C2A4-432D-AF3B-1985B32B10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124" t="20030" r="23013" b="20348"/>
          <a:stretch/>
        </p:blipFill>
        <p:spPr bwMode="auto">
          <a:xfrm>
            <a:off x="6463210" y="2373922"/>
            <a:ext cx="1375733" cy="1264575"/>
          </a:xfrm>
          <a:prstGeom prst="rect">
            <a:avLst/>
          </a:prstGeom>
          <a:noFill/>
          <a:extLst>
            <a:ext uri="{909E8E84-426E-40DD-AFC4-6F175D3DCCD1}">
              <a14:hiddenFill xmlns:a14="http://schemas.microsoft.com/office/drawing/2010/main">
                <a:solidFill>
                  <a:srgbClr val="FFFFFF"/>
                </a:solidFill>
              </a14:hiddenFill>
            </a:ext>
          </a:extLst>
        </p:spPr>
      </p:pic>
      <p:sp>
        <p:nvSpPr>
          <p:cNvPr id="22" name="CuadroTexto 21">
            <a:extLst>
              <a:ext uri="{FF2B5EF4-FFF2-40B4-BE49-F238E27FC236}">
                <a16:creationId xmlns:a16="http://schemas.microsoft.com/office/drawing/2014/main" id="{6F0EDD3A-3347-4EB2-8DDA-94900393F353}"/>
              </a:ext>
            </a:extLst>
          </p:cNvPr>
          <p:cNvSpPr txBox="1"/>
          <p:nvPr/>
        </p:nvSpPr>
        <p:spPr>
          <a:xfrm>
            <a:off x="1625111" y="4158734"/>
            <a:ext cx="1929911" cy="369332"/>
          </a:xfrm>
          <a:prstGeom prst="rect">
            <a:avLst/>
          </a:prstGeom>
          <a:noFill/>
        </p:spPr>
        <p:txBody>
          <a:bodyPr wrap="square">
            <a:spAutoFit/>
          </a:bodyPr>
          <a:lstStyle/>
          <a:p>
            <a:r>
              <a:rPr lang="es-PE"/>
              <a:t>3. Visual Studio</a:t>
            </a:r>
          </a:p>
        </p:txBody>
      </p:sp>
      <p:sp>
        <p:nvSpPr>
          <p:cNvPr id="26" name="CuadroTexto 25">
            <a:extLst>
              <a:ext uri="{FF2B5EF4-FFF2-40B4-BE49-F238E27FC236}">
                <a16:creationId xmlns:a16="http://schemas.microsoft.com/office/drawing/2014/main" id="{4A278F82-3A35-4A67-B3C8-B01DAEB558AC}"/>
              </a:ext>
            </a:extLst>
          </p:cNvPr>
          <p:cNvSpPr txBox="1"/>
          <p:nvPr/>
        </p:nvSpPr>
        <p:spPr>
          <a:xfrm>
            <a:off x="5311131" y="4184428"/>
            <a:ext cx="1953253" cy="369332"/>
          </a:xfrm>
          <a:prstGeom prst="rect">
            <a:avLst/>
          </a:prstGeom>
          <a:noFill/>
        </p:spPr>
        <p:txBody>
          <a:bodyPr wrap="square">
            <a:spAutoFit/>
          </a:bodyPr>
          <a:lstStyle/>
          <a:p>
            <a:r>
              <a:rPr lang="es-PE"/>
              <a:t>4. SonarQube</a:t>
            </a:r>
          </a:p>
        </p:txBody>
      </p:sp>
      <p:pic>
        <p:nvPicPr>
          <p:cNvPr id="27" name="Picture 2" descr="SonarQube | SonarScanner : a step by step guide. | by Rahul Mourya | The  Startup | Medium">
            <a:extLst>
              <a:ext uri="{FF2B5EF4-FFF2-40B4-BE49-F238E27FC236}">
                <a16:creationId xmlns:a16="http://schemas.microsoft.com/office/drawing/2014/main" id="{8C369BDF-9A8D-4031-91B5-3E54570DB3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3702" y="4682051"/>
            <a:ext cx="3809576" cy="114188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03E11557-B47F-4864-82D7-0B5697F4D4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2133" y="4508460"/>
            <a:ext cx="2630943" cy="1315472"/>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00EF240F-7E63-4107-86F2-A06E043FA330}"/>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33356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020C53-7425-495E-B2A6-D0CC67184B6E}"/>
              </a:ext>
            </a:extLst>
          </p:cNvPr>
          <p:cNvSpPr txBox="1"/>
          <p:nvPr/>
        </p:nvSpPr>
        <p:spPr>
          <a:xfrm>
            <a:off x="547109" y="503972"/>
            <a:ext cx="7928676"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8.</a:t>
            </a:r>
            <a:r>
              <a:rPr lang="es-ES" sz="2400" b="1">
                <a:latin typeface="Times New Roman" panose="02020603050405020304" pitchFamily="18" charset="0"/>
                <a:ea typeface="Calibri" panose="020F0502020204030204" pitchFamily="34" charset="0"/>
                <a:cs typeface="Times New Roman" panose="02020603050405020304" pitchFamily="18" charset="0"/>
              </a:rPr>
              <a:t>  DESARROLLO DE LA PROPUESTA</a:t>
            </a:r>
            <a:endParaRPr lang="es-PE" sz="2000" b="1">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F12824D5-5AF1-41F4-9BE5-829AF38BF844}"/>
              </a:ext>
            </a:extLst>
          </p:cNvPr>
          <p:cNvSpPr txBox="1"/>
          <p:nvPr/>
        </p:nvSpPr>
        <p:spPr>
          <a:xfrm>
            <a:off x="778120" y="1370278"/>
            <a:ext cx="6093068" cy="369332"/>
          </a:xfrm>
          <a:prstGeom prst="rect">
            <a:avLst/>
          </a:prstGeom>
          <a:noFill/>
        </p:spPr>
        <p:txBody>
          <a:bodyPr wrap="square">
            <a:spAutoFit/>
          </a:bodyPr>
          <a:lstStyle/>
          <a:p>
            <a:pPr lvl="1" algn="just">
              <a:spcAft>
                <a:spcPts val="600"/>
              </a:spcAft>
            </a:pPr>
            <a:r>
              <a:rPr lang="es-PE" sz="1800">
                <a:effectLst/>
                <a:latin typeface="Times New Roman" panose="02020603050405020304" pitchFamily="18" charset="0"/>
                <a:ea typeface="Calibri" panose="020F0502020204030204" pitchFamily="34" charset="0"/>
                <a:cs typeface="Times New Roman" panose="02020603050405020304" pitchFamily="18" charset="0"/>
              </a:rPr>
              <a:t>B.  METODOLOGÍA, TECNICAS USADAS</a:t>
            </a:r>
            <a:endParaRPr lang="es-PE" sz="18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Imagen 14">
            <a:extLst>
              <a:ext uri="{FF2B5EF4-FFF2-40B4-BE49-F238E27FC236}">
                <a16:creationId xmlns:a16="http://schemas.microsoft.com/office/drawing/2014/main" id="{69275105-E0CF-4B1A-BDCD-3FF4EFFA7489}"/>
              </a:ext>
            </a:extLst>
          </p:cNvPr>
          <p:cNvPicPr/>
          <p:nvPr/>
        </p:nvPicPr>
        <p:blipFill>
          <a:blip r:embed="rId2">
            <a:extLst>
              <a:ext uri="{28A0092B-C50C-407E-A947-70E740481C1C}">
                <a14:useLocalDpi xmlns:a14="http://schemas.microsoft.com/office/drawing/2010/main" val="0"/>
              </a:ext>
            </a:extLst>
          </a:blip>
          <a:stretch>
            <a:fillRect/>
          </a:stretch>
        </p:blipFill>
        <p:spPr>
          <a:xfrm>
            <a:off x="8196627" y="1554944"/>
            <a:ext cx="2711255" cy="2999471"/>
          </a:xfrm>
          <a:prstGeom prst="rect">
            <a:avLst/>
          </a:prstGeom>
        </p:spPr>
      </p:pic>
      <p:sp>
        <p:nvSpPr>
          <p:cNvPr id="18" name="CuadroTexto 17">
            <a:extLst>
              <a:ext uri="{FF2B5EF4-FFF2-40B4-BE49-F238E27FC236}">
                <a16:creationId xmlns:a16="http://schemas.microsoft.com/office/drawing/2014/main" id="{98CCE96A-04D9-4D84-B4D5-BD2A6E0F1958}"/>
              </a:ext>
            </a:extLst>
          </p:cNvPr>
          <p:cNvSpPr txBox="1"/>
          <p:nvPr/>
        </p:nvSpPr>
        <p:spPr>
          <a:xfrm>
            <a:off x="7873511" y="4645977"/>
            <a:ext cx="3653203" cy="646331"/>
          </a:xfrm>
          <a:prstGeom prst="rect">
            <a:avLst/>
          </a:prstGeom>
          <a:noFill/>
        </p:spPr>
        <p:txBody>
          <a:bodyPr wrap="square">
            <a:spAutoFit/>
          </a:bodyPr>
          <a:lstStyle/>
          <a:p>
            <a:r>
              <a:rPr lang="es-ES"/>
              <a:t>Programación en 3 capas (Presentación, Negocios y Datos).</a:t>
            </a:r>
          </a:p>
        </p:txBody>
      </p:sp>
      <p:sp>
        <p:nvSpPr>
          <p:cNvPr id="20" name="CuadroTexto 19">
            <a:extLst>
              <a:ext uri="{FF2B5EF4-FFF2-40B4-BE49-F238E27FC236}">
                <a16:creationId xmlns:a16="http://schemas.microsoft.com/office/drawing/2014/main" id="{609EC96B-E8F2-4503-8392-B2B5E93AF750}"/>
              </a:ext>
            </a:extLst>
          </p:cNvPr>
          <p:cNvSpPr txBox="1"/>
          <p:nvPr/>
        </p:nvSpPr>
        <p:spPr>
          <a:xfrm>
            <a:off x="5802923" y="4365366"/>
            <a:ext cx="1068265" cy="378097"/>
          </a:xfrm>
          <a:prstGeom prst="rect">
            <a:avLst/>
          </a:prstGeom>
          <a:noFill/>
        </p:spPr>
        <p:txBody>
          <a:bodyPr wrap="square">
            <a:spAutoFit/>
          </a:bodyPr>
          <a:lstStyle/>
          <a:p>
            <a:r>
              <a:rPr lang="es-PE" sz="1800">
                <a:effectLst/>
                <a:latin typeface="Times New Roman" panose="02020603050405020304" pitchFamily="18" charset="0"/>
                <a:ea typeface="Calibri" panose="020F0502020204030204" pitchFamily="34" charset="0"/>
                <a:cs typeface="Symbol" panose="05050102010706020507" pitchFamily="18" charset="2"/>
              </a:rPr>
              <a:t>UML</a:t>
            </a:r>
            <a:endParaRPr lang="es-PE"/>
          </a:p>
        </p:txBody>
      </p:sp>
      <p:sp>
        <p:nvSpPr>
          <p:cNvPr id="24" name="CuadroTexto 23">
            <a:extLst>
              <a:ext uri="{FF2B5EF4-FFF2-40B4-BE49-F238E27FC236}">
                <a16:creationId xmlns:a16="http://schemas.microsoft.com/office/drawing/2014/main" id="{C4C8529E-32FB-4D4E-BBDB-0A280B2EA49C}"/>
              </a:ext>
            </a:extLst>
          </p:cNvPr>
          <p:cNvSpPr txBox="1"/>
          <p:nvPr/>
        </p:nvSpPr>
        <p:spPr>
          <a:xfrm>
            <a:off x="1491764" y="4780093"/>
            <a:ext cx="2861896" cy="646331"/>
          </a:xfrm>
          <a:prstGeom prst="rect">
            <a:avLst/>
          </a:prstGeom>
          <a:noFill/>
        </p:spPr>
        <p:txBody>
          <a:bodyPr wrap="square">
            <a:spAutoFit/>
          </a:bodyPr>
          <a:lstStyle/>
          <a:p>
            <a:r>
              <a:rPr lang="es-ES"/>
              <a:t>Programación orientada a objetos (POO).</a:t>
            </a:r>
          </a:p>
        </p:txBody>
      </p:sp>
      <p:pic>
        <p:nvPicPr>
          <p:cNvPr id="7170" name="Picture 2" descr="Qué es la programación orientada a objetos? | EDteam">
            <a:extLst>
              <a:ext uri="{FF2B5EF4-FFF2-40B4-BE49-F238E27FC236}">
                <a16:creationId xmlns:a16="http://schemas.microsoft.com/office/drawing/2014/main" id="{161A57C2-84B4-491D-96D6-A7E9DDD52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2" y="2303584"/>
            <a:ext cx="3001108" cy="225083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 Todos los diagramas UML. Teoría y ejemplos">
            <a:extLst>
              <a:ext uri="{FF2B5EF4-FFF2-40B4-BE49-F238E27FC236}">
                <a16:creationId xmlns:a16="http://schemas.microsoft.com/office/drawing/2014/main" id="{43FA512E-130D-4B06-AB93-5CB81DF0D2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4195" y="2611855"/>
            <a:ext cx="2861896" cy="1634288"/>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8AA006A4-6184-4BE4-AB69-5B316E4671CE}"/>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916382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020C53-7425-495E-B2A6-D0CC67184B6E}"/>
              </a:ext>
            </a:extLst>
          </p:cNvPr>
          <p:cNvSpPr txBox="1"/>
          <p:nvPr/>
        </p:nvSpPr>
        <p:spPr>
          <a:xfrm>
            <a:off x="590241" y="1194085"/>
            <a:ext cx="7928676" cy="461665"/>
          </a:xfrm>
          <a:prstGeom prst="rect">
            <a:avLst/>
          </a:prstGeom>
          <a:noFill/>
        </p:spPr>
        <p:txBody>
          <a:bodyPr wrap="square">
            <a:spAutoFit/>
          </a:bodyPr>
          <a:lstStyle/>
          <a:p>
            <a:pPr algn="just">
              <a:spcAft>
                <a:spcPts val="600"/>
              </a:spcAft>
            </a:pPr>
            <a:r>
              <a:rPr lang="es-PE" sz="2400" b="1">
                <a:latin typeface="Times New Roman" panose="02020603050405020304" pitchFamily="18" charset="0"/>
                <a:ea typeface="Calibri" panose="020F0502020204030204" pitchFamily="34" charset="0"/>
                <a:cs typeface="Times New Roman" panose="02020603050405020304" pitchFamily="18" charset="0"/>
              </a:rPr>
              <a:t>9.</a:t>
            </a:r>
            <a:r>
              <a:rPr lang="es-ES" sz="2400" b="1">
                <a:latin typeface="Times New Roman" panose="02020603050405020304" pitchFamily="18" charset="0"/>
                <a:ea typeface="Calibri" panose="020F0502020204030204" pitchFamily="34" charset="0"/>
                <a:cs typeface="Times New Roman" panose="02020603050405020304" pitchFamily="18" charset="0"/>
              </a:rPr>
              <a:t>  CRONOGRAMA</a:t>
            </a:r>
            <a:endParaRPr lang="es-PE" sz="2000" b="1">
              <a:latin typeface="Calibri" panose="020F0502020204030204" pitchFamily="34" charset="0"/>
              <a:ea typeface="Calibri" panose="020F0502020204030204" pitchFamily="34" charset="0"/>
              <a:cs typeface="Times New Roman" panose="02020603050405020304" pitchFamily="18" charset="0"/>
            </a:endParaRPr>
          </a:p>
        </p:txBody>
      </p:sp>
      <p:pic>
        <p:nvPicPr>
          <p:cNvPr id="2" name="Imagen 1">
            <a:extLst>
              <a:ext uri="{FF2B5EF4-FFF2-40B4-BE49-F238E27FC236}">
                <a16:creationId xmlns:a16="http://schemas.microsoft.com/office/drawing/2014/main" id="{B351FC48-500F-4E03-9D33-A6ABB9F758FE}"/>
              </a:ext>
            </a:extLst>
          </p:cNvPr>
          <p:cNvPicPr>
            <a:picLocks noChangeAspect="1"/>
          </p:cNvPicPr>
          <p:nvPr/>
        </p:nvPicPr>
        <p:blipFill rotWithShape="1">
          <a:blip r:embed="rId2"/>
          <a:srcRect t="8247"/>
          <a:stretch/>
        </p:blipFill>
        <p:spPr>
          <a:xfrm>
            <a:off x="2225301" y="2165748"/>
            <a:ext cx="6891338" cy="1650459"/>
          </a:xfrm>
          <a:prstGeom prst="rect">
            <a:avLst/>
          </a:prstGeom>
        </p:spPr>
      </p:pic>
      <p:sp>
        <p:nvSpPr>
          <p:cNvPr id="16" name="Rectángulo 15">
            <a:extLst>
              <a:ext uri="{FF2B5EF4-FFF2-40B4-BE49-F238E27FC236}">
                <a16:creationId xmlns:a16="http://schemas.microsoft.com/office/drawing/2014/main" id="{DF488129-A87A-4737-A15E-0741007EF610}"/>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495294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15">
            <a:extLst>
              <a:ext uri="{FF2B5EF4-FFF2-40B4-BE49-F238E27FC236}">
                <a16:creationId xmlns:a16="http://schemas.microsoft.com/office/drawing/2014/main" id="{D74A6774-E890-472D-98C4-CB75AD8E3B1F}"/>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cs typeface="Calibri"/>
            </a:endParaRPr>
          </a:p>
        </p:txBody>
      </p:sp>
      <p:pic>
        <p:nvPicPr>
          <p:cNvPr id="5" name="Picture 5">
            <a:extLst>
              <a:ext uri="{FF2B5EF4-FFF2-40B4-BE49-F238E27FC236}">
                <a16:creationId xmlns:a16="http://schemas.microsoft.com/office/drawing/2014/main" id="{8168687E-CDE7-4214-8519-C84CA6BF15D7}"/>
              </a:ext>
            </a:extLst>
          </p:cNvPr>
          <p:cNvPicPr>
            <a:picLocks noChangeAspect="1"/>
          </p:cNvPicPr>
          <p:nvPr/>
        </p:nvPicPr>
        <p:blipFill>
          <a:blip r:embed="rId2"/>
          <a:stretch>
            <a:fillRect/>
          </a:stretch>
        </p:blipFill>
        <p:spPr>
          <a:xfrm>
            <a:off x="1547004" y="1523254"/>
            <a:ext cx="6150633" cy="3710849"/>
          </a:xfrm>
          <a:prstGeom prst="rect">
            <a:avLst/>
          </a:prstGeom>
        </p:spPr>
      </p:pic>
      <p:sp>
        <p:nvSpPr>
          <p:cNvPr id="6" name="TextBox 5">
            <a:extLst>
              <a:ext uri="{FF2B5EF4-FFF2-40B4-BE49-F238E27FC236}">
                <a16:creationId xmlns:a16="http://schemas.microsoft.com/office/drawing/2014/main" id="{A5862FF2-C779-4264-A5D3-A5A7B6FA1533}"/>
              </a:ext>
            </a:extLst>
          </p:cNvPr>
          <p:cNvSpPr txBox="1"/>
          <p:nvPr/>
        </p:nvSpPr>
        <p:spPr>
          <a:xfrm>
            <a:off x="669985" y="871268"/>
            <a:ext cx="410904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PE" sz="2000" b="1">
                <a:latin typeface="Times New Roman"/>
              </a:rPr>
              <a:t>10. </a:t>
            </a:r>
            <a:r>
              <a:rPr lang="es-PE" sz="2000" b="1">
                <a:ea typeface="+mn-lt"/>
                <a:cs typeface="+mn-lt"/>
              </a:rPr>
              <a:t>METRICAS DE SONARQUBE</a:t>
            </a:r>
            <a:endParaRPr lang="es-PE" sz="2000" b="1">
              <a:cs typeface="Calibri"/>
            </a:endParaRPr>
          </a:p>
        </p:txBody>
      </p:sp>
    </p:spTree>
    <p:extLst>
      <p:ext uri="{BB962C8B-B14F-4D97-AF65-F5344CB8AC3E}">
        <p14:creationId xmlns:p14="http://schemas.microsoft.com/office/powerpoint/2010/main" val="2781376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11">
            <a:extLst>
              <a:ext uri="{FF2B5EF4-FFF2-40B4-BE49-F238E27FC236}">
                <a16:creationId xmlns:a16="http://schemas.microsoft.com/office/drawing/2014/main" id="{37EB78A8-69DD-4DA7-A87C-D2E1EF7BE6A9}"/>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10">
            <a:extLst>
              <a:ext uri="{FF2B5EF4-FFF2-40B4-BE49-F238E27FC236}">
                <a16:creationId xmlns:a16="http://schemas.microsoft.com/office/drawing/2014/main" id="{09DB5814-2E8B-4B23-9649-DD5B97C5C906}"/>
              </a:ext>
            </a:extLst>
          </p:cNvPr>
          <p:cNvSpPr txBox="1"/>
          <p:nvPr/>
        </p:nvSpPr>
        <p:spPr>
          <a:xfrm>
            <a:off x="604618" y="926544"/>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11. Resultado Sonarqube</a:t>
            </a:r>
            <a:endParaRPr lang="es-PE" sz="2000" b="1">
              <a:latin typeface="Times New Roman"/>
              <a:ea typeface="Calibri" panose="020F0502020204030204" pitchFamily="34" charset="0"/>
              <a:cs typeface="Times New Roman"/>
            </a:endParaRPr>
          </a:p>
        </p:txBody>
      </p:sp>
      <p:sp>
        <p:nvSpPr>
          <p:cNvPr id="9" name="CuadroTexto 12">
            <a:extLst>
              <a:ext uri="{FF2B5EF4-FFF2-40B4-BE49-F238E27FC236}">
                <a16:creationId xmlns:a16="http://schemas.microsoft.com/office/drawing/2014/main" id="{C82F0BEB-21FA-44B4-AECD-F52EC628EC77}"/>
              </a:ext>
            </a:extLst>
          </p:cNvPr>
          <p:cNvSpPr txBox="1"/>
          <p:nvPr/>
        </p:nvSpPr>
        <p:spPr>
          <a:xfrm>
            <a:off x="1381745" y="1460282"/>
            <a:ext cx="6093068" cy="369332"/>
          </a:xfrm>
          <a:prstGeom prst="rect">
            <a:avLst/>
          </a:prstGeom>
          <a:noFill/>
        </p:spPr>
        <p:txBody>
          <a:bodyPr wrap="square" lIns="91440" tIns="45720" rIns="91440" bIns="45720" anchor="t">
            <a:spAutoFit/>
          </a:bodyPr>
          <a:lstStyle/>
          <a:p>
            <a:r>
              <a:rPr lang="es-ES"/>
              <a:t>1. Primero entramos a ruta donde está la solución </a:t>
            </a:r>
            <a:endParaRPr lang="es-PE"/>
          </a:p>
        </p:txBody>
      </p:sp>
      <p:pic>
        <p:nvPicPr>
          <p:cNvPr id="11" name="Imagen 4">
            <a:extLst>
              <a:ext uri="{FF2B5EF4-FFF2-40B4-BE49-F238E27FC236}">
                <a16:creationId xmlns:a16="http://schemas.microsoft.com/office/drawing/2014/main" id="{52401B55-64C6-431D-A8C9-2C0BED404C1D}"/>
              </a:ext>
            </a:extLst>
          </p:cNvPr>
          <p:cNvPicPr>
            <a:picLocks noChangeAspect="1"/>
          </p:cNvPicPr>
          <p:nvPr/>
        </p:nvPicPr>
        <p:blipFill>
          <a:blip r:embed="rId2"/>
          <a:stretch>
            <a:fillRect/>
          </a:stretch>
        </p:blipFill>
        <p:spPr>
          <a:xfrm>
            <a:off x="3142915" y="2250925"/>
            <a:ext cx="5927784" cy="3009181"/>
          </a:xfrm>
          <a:prstGeom prst="rect">
            <a:avLst/>
          </a:prstGeom>
        </p:spPr>
      </p:pic>
    </p:spTree>
    <p:extLst>
      <p:ext uri="{BB962C8B-B14F-4D97-AF65-F5344CB8AC3E}">
        <p14:creationId xmlns:p14="http://schemas.microsoft.com/office/powerpoint/2010/main" val="1121528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6BA5C64-AB75-4E9D-AF4B-8B20449396D4}"/>
              </a:ext>
            </a:extLst>
          </p:cNvPr>
          <p:cNvSpPr txBox="1"/>
          <p:nvPr/>
        </p:nvSpPr>
        <p:spPr>
          <a:xfrm>
            <a:off x="599863" y="683567"/>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11. Resultado </a:t>
            </a:r>
            <a:r>
              <a:rPr lang="es-ES" sz="2400" b="1" err="1">
                <a:latin typeface="Times New Roman"/>
                <a:ea typeface="Calibri" panose="020F0502020204030204" pitchFamily="34" charset="0"/>
                <a:cs typeface="Times New Roman"/>
              </a:rPr>
              <a:t>Sonarqube</a:t>
            </a:r>
            <a:endParaRPr lang="es-PE" sz="2000" b="1" err="1">
              <a:latin typeface="Times New Roman"/>
              <a:ea typeface="Calibri" panose="020F0502020204030204" pitchFamily="34" charset="0"/>
              <a:cs typeface="Times New Roman"/>
            </a:endParaRPr>
          </a:p>
        </p:txBody>
      </p:sp>
      <p:sp>
        <p:nvSpPr>
          <p:cNvPr id="8" name="CuadroTexto 7">
            <a:extLst>
              <a:ext uri="{FF2B5EF4-FFF2-40B4-BE49-F238E27FC236}">
                <a16:creationId xmlns:a16="http://schemas.microsoft.com/office/drawing/2014/main" id="{183B6C1E-5B0A-4CD0-812A-C9703BBCBE70}"/>
              </a:ext>
            </a:extLst>
          </p:cNvPr>
          <p:cNvSpPr txBox="1"/>
          <p:nvPr/>
        </p:nvSpPr>
        <p:spPr>
          <a:xfrm>
            <a:off x="725365" y="1892495"/>
            <a:ext cx="4884127" cy="662989"/>
          </a:xfrm>
          <a:prstGeom prst="rect">
            <a:avLst/>
          </a:prstGeom>
          <a:noFill/>
        </p:spPr>
        <p:txBody>
          <a:bodyPr wrap="square">
            <a:spAutoFit/>
          </a:bodyPr>
          <a:lstStyle/>
          <a:p>
            <a:r>
              <a:rPr lang="es-ES"/>
              <a:t>2. Luego ejecutamos el siguiente comando para inspeccionar el código </a:t>
            </a:r>
            <a:endParaRPr lang="es-PE"/>
          </a:p>
        </p:txBody>
      </p:sp>
      <p:pic>
        <p:nvPicPr>
          <p:cNvPr id="6" name="Imagen 5">
            <a:extLst>
              <a:ext uri="{FF2B5EF4-FFF2-40B4-BE49-F238E27FC236}">
                <a16:creationId xmlns:a16="http://schemas.microsoft.com/office/drawing/2014/main" id="{1B2AE15A-6BE8-4A07-9DBE-9474E6ACE723}"/>
              </a:ext>
            </a:extLst>
          </p:cNvPr>
          <p:cNvPicPr>
            <a:picLocks noChangeAspect="1"/>
          </p:cNvPicPr>
          <p:nvPr/>
        </p:nvPicPr>
        <p:blipFill>
          <a:blip r:embed="rId2"/>
          <a:stretch>
            <a:fillRect/>
          </a:stretch>
        </p:blipFill>
        <p:spPr>
          <a:xfrm>
            <a:off x="890587" y="2702312"/>
            <a:ext cx="5474124" cy="2080703"/>
          </a:xfrm>
          <a:prstGeom prst="rect">
            <a:avLst/>
          </a:prstGeom>
        </p:spPr>
      </p:pic>
      <p:sp>
        <p:nvSpPr>
          <p:cNvPr id="12" name="CuadroTexto 11">
            <a:extLst>
              <a:ext uri="{FF2B5EF4-FFF2-40B4-BE49-F238E27FC236}">
                <a16:creationId xmlns:a16="http://schemas.microsoft.com/office/drawing/2014/main" id="{F37C920A-294E-478C-B5A3-8F084ED81EEE}"/>
              </a:ext>
            </a:extLst>
          </p:cNvPr>
          <p:cNvSpPr txBox="1"/>
          <p:nvPr/>
        </p:nvSpPr>
        <p:spPr>
          <a:xfrm>
            <a:off x="6477002" y="1920829"/>
            <a:ext cx="6093068" cy="369332"/>
          </a:xfrm>
          <a:prstGeom prst="rect">
            <a:avLst/>
          </a:prstGeom>
          <a:noFill/>
        </p:spPr>
        <p:txBody>
          <a:bodyPr wrap="square">
            <a:spAutoFit/>
          </a:bodyPr>
          <a:lstStyle/>
          <a:p>
            <a:r>
              <a:rPr lang="es-ES"/>
              <a:t>3. Ejecutamos el comando ”</a:t>
            </a:r>
            <a:r>
              <a:rPr lang="es-ES" err="1"/>
              <a:t>msbuild”para</a:t>
            </a:r>
            <a:r>
              <a:rPr lang="es-ES"/>
              <a:t> reconstruir </a:t>
            </a:r>
            <a:endParaRPr lang="es-PE"/>
          </a:p>
        </p:txBody>
      </p:sp>
      <p:pic>
        <p:nvPicPr>
          <p:cNvPr id="9" name="Imagen 8">
            <a:extLst>
              <a:ext uri="{FF2B5EF4-FFF2-40B4-BE49-F238E27FC236}">
                <a16:creationId xmlns:a16="http://schemas.microsoft.com/office/drawing/2014/main" id="{3507A5D8-32CE-4C5D-A3E9-96B108D0AC83}"/>
              </a:ext>
            </a:extLst>
          </p:cNvPr>
          <p:cNvPicPr>
            <a:picLocks noChangeAspect="1"/>
          </p:cNvPicPr>
          <p:nvPr/>
        </p:nvPicPr>
        <p:blipFill>
          <a:blip r:embed="rId3"/>
          <a:stretch>
            <a:fillRect/>
          </a:stretch>
        </p:blipFill>
        <p:spPr>
          <a:xfrm>
            <a:off x="6723188" y="2702312"/>
            <a:ext cx="4847490" cy="2022411"/>
          </a:xfrm>
          <a:prstGeom prst="rect">
            <a:avLst/>
          </a:prstGeom>
        </p:spPr>
      </p:pic>
      <p:sp>
        <p:nvSpPr>
          <p:cNvPr id="16" name="Rectángulo 15">
            <a:extLst>
              <a:ext uri="{FF2B5EF4-FFF2-40B4-BE49-F238E27FC236}">
                <a16:creationId xmlns:a16="http://schemas.microsoft.com/office/drawing/2014/main" id="{232FFAF9-065B-4193-AB2A-1454F3B2CAF4}"/>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911058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6BA5C64-AB75-4E9D-AF4B-8B20449396D4}"/>
              </a:ext>
            </a:extLst>
          </p:cNvPr>
          <p:cNvSpPr txBox="1"/>
          <p:nvPr/>
        </p:nvSpPr>
        <p:spPr>
          <a:xfrm>
            <a:off x="599863" y="683567"/>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11. Resultado </a:t>
            </a:r>
            <a:r>
              <a:rPr lang="es-ES" sz="2400" b="1" err="1">
                <a:latin typeface="Times New Roman"/>
                <a:ea typeface="Calibri" panose="020F0502020204030204" pitchFamily="34" charset="0"/>
                <a:cs typeface="Times New Roman"/>
              </a:rPr>
              <a:t>Sonarqube</a:t>
            </a:r>
            <a:endParaRPr lang="es-PE" sz="2000" b="1" err="1">
              <a:latin typeface="Times New Roman"/>
              <a:ea typeface="Calibri" panose="020F0502020204030204" pitchFamily="34" charset="0"/>
              <a:cs typeface="Times New Roman"/>
            </a:endParaRPr>
          </a:p>
        </p:txBody>
      </p:sp>
      <p:sp>
        <p:nvSpPr>
          <p:cNvPr id="14" name="CuadroTexto 13">
            <a:extLst>
              <a:ext uri="{FF2B5EF4-FFF2-40B4-BE49-F238E27FC236}">
                <a16:creationId xmlns:a16="http://schemas.microsoft.com/office/drawing/2014/main" id="{A289C639-AB0E-4D4B-AF83-10F67F969BDA}"/>
              </a:ext>
            </a:extLst>
          </p:cNvPr>
          <p:cNvSpPr txBox="1"/>
          <p:nvPr/>
        </p:nvSpPr>
        <p:spPr>
          <a:xfrm>
            <a:off x="978695" y="1450898"/>
            <a:ext cx="10234609" cy="646331"/>
          </a:xfrm>
          <a:prstGeom prst="rect">
            <a:avLst/>
          </a:prstGeom>
          <a:noFill/>
        </p:spPr>
        <p:txBody>
          <a:bodyPr wrap="square">
            <a:spAutoFit/>
          </a:bodyPr>
          <a:lstStyle/>
          <a:p>
            <a:r>
              <a:rPr lang="es-ES"/>
              <a:t>4. Ejecutamos el comando ”</a:t>
            </a:r>
            <a:r>
              <a:rPr lang="es-ES" err="1"/>
              <a:t>dotnet</a:t>
            </a:r>
            <a:r>
              <a:rPr lang="es-ES"/>
              <a:t> </a:t>
            </a:r>
            <a:r>
              <a:rPr lang="es-ES" err="1"/>
              <a:t>sonarscanner</a:t>
            </a:r>
            <a:r>
              <a:rPr lang="es-ES"/>
              <a:t> </a:t>
            </a:r>
            <a:r>
              <a:rPr lang="es-ES" err="1"/>
              <a:t>end</a:t>
            </a:r>
            <a:r>
              <a:rPr lang="es-ES"/>
              <a:t> /</a:t>
            </a:r>
            <a:r>
              <a:rPr lang="es-ES" err="1"/>
              <a:t>d:sonar.login</a:t>
            </a:r>
            <a:r>
              <a:rPr lang="es-ES"/>
              <a:t>=admin /</a:t>
            </a:r>
            <a:r>
              <a:rPr lang="es-ES" err="1"/>
              <a:t>d:sonar.password</a:t>
            </a:r>
            <a:r>
              <a:rPr lang="es-ES"/>
              <a:t>=</a:t>
            </a:r>
            <a:r>
              <a:rPr lang="es-ES" err="1"/>
              <a:t>admin”para</a:t>
            </a:r>
            <a:r>
              <a:rPr lang="es-ES"/>
              <a:t> cerrar y visualizarlo en la consola de </a:t>
            </a:r>
            <a:r>
              <a:rPr lang="es-ES" err="1"/>
              <a:t>sonarqube</a:t>
            </a:r>
            <a:endParaRPr lang="es-PE"/>
          </a:p>
        </p:txBody>
      </p:sp>
      <p:pic>
        <p:nvPicPr>
          <p:cNvPr id="15" name="Imagen 14">
            <a:extLst>
              <a:ext uri="{FF2B5EF4-FFF2-40B4-BE49-F238E27FC236}">
                <a16:creationId xmlns:a16="http://schemas.microsoft.com/office/drawing/2014/main" id="{33083161-C9B7-40C1-ABF1-C7F9BE857CD8}"/>
              </a:ext>
            </a:extLst>
          </p:cNvPr>
          <p:cNvPicPr>
            <a:picLocks noChangeAspect="1"/>
          </p:cNvPicPr>
          <p:nvPr/>
        </p:nvPicPr>
        <p:blipFill>
          <a:blip r:embed="rId2"/>
          <a:stretch>
            <a:fillRect/>
          </a:stretch>
        </p:blipFill>
        <p:spPr>
          <a:xfrm>
            <a:off x="1200149" y="2138385"/>
            <a:ext cx="5200651" cy="2042470"/>
          </a:xfrm>
          <a:prstGeom prst="rect">
            <a:avLst/>
          </a:prstGeom>
        </p:spPr>
      </p:pic>
      <p:pic>
        <p:nvPicPr>
          <p:cNvPr id="2" name="Imagen 1">
            <a:extLst>
              <a:ext uri="{FF2B5EF4-FFF2-40B4-BE49-F238E27FC236}">
                <a16:creationId xmlns:a16="http://schemas.microsoft.com/office/drawing/2014/main" id="{5CA36DAD-A3F9-4AB5-B843-EFCBEC9F7AFF}"/>
              </a:ext>
            </a:extLst>
          </p:cNvPr>
          <p:cNvPicPr>
            <a:picLocks noChangeAspect="1"/>
          </p:cNvPicPr>
          <p:nvPr/>
        </p:nvPicPr>
        <p:blipFill>
          <a:blip r:embed="rId3"/>
          <a:stretch>
            <a:fillRect/>
          </a:stretch>
        </p:blipFill>
        <p:spPr>
          <a:xfrm>
            <a:off x="5794864" y="2596649"/>
            <a:ext cx="5467350" cy="1543050"/>
          </a:xfrm>
          <a:prstGeom prst="rect">
            <a:avLst/>
          </a:prstGeom>
        </p:spPr>
      </p:pic>
      <p:sp>
        <p:nvSpPr>
          <p:cNvPr id="13" name="CuadroTexto 12">
            <a:extLst>
              <a:ext uri="{FF2B5EF4-FFF2-40B4-BE49-F238E27FC236}">
                <a16:creationId xmlns:a16="http://schemas.microsoft.com/office/drawing/2014/main" id="{839D9949-E7F9-425A-9CF4-019585B06EA9}"/>
              </a:ext>
            </a:extLst>
          </p:cNvPr>
          <p:cNvSpPr txBox="1"/>
          <p:nvPr/>
        </p:nvSpPr>
        <p:spPr>
          <a:xfrm>
            <a:off x="978695" y="4495609"/>
            <a:ext cx="6093068" cy="369332"/>
          </a:xfrm>
          <a:prstGeom prst="rect">
            <a:avLst/>
          </a:prstGeom>
          <a:noFill/>
        </p:spPr>
        <p:txBody>
          <a:bodyPr wrap="square">
            <a:spAutoFit/>
          </a:bodyPr>
          <a:lstStyle/>
          <a:p>
            <a:r>
              <a:rPr lang="es-ES"/>
              <a:t>5 Muestra del proyecto de Veterinaria en Sonarqube </a:t>
            </a:r>
            <a:endParaRPr lang="es-PE"/>
          </a:p>
        </p:txBody>
      </p:sp>
      <p:pic>
        <p:nvPicPr>
          <p:cNvPr id="4" name="Imagen 3">
            <a:extLst>
              <a:ext uri="{FF2B5EF4-FFF2-40B4-BE49-F238E27FC236}">
                <a16:creationId xmlns:a16="http://schemas.microsoft.com/office/drawing/2014/main" id="{317AAD2B-0D55-490E-BDE5-E31E3FA04377}"/>
              </a:ext>
            </a:extLst>
          </p:cNvPr>
          <p:cNvPicPr>
            <a:picLocks noChangeAspect="1"/>
          </p:cNvPicPr>
          <p:nvPr/>
        </p:nvPicPr>
        <p:blipFill>
          <a:blip r:embed="rId4"/>
          <a:stretch>
            <a:fillRect/>
          </a:stretch>
        </p:blipFill>
        <p:spPr>
          <a:xfrm>
            <a:off x="1901886" y="4988002"/>
            <a:ext cx="6956800" cy="1186431"/>
          </a:xfrm>
          <a:prstGeom prst="rect">
            <a:avLst/>
          </a:prstGeom>
        </p:spPr>
      </p:pic>
      <p:sp>
        <p:nvSpPr>
          <p:cNvPr id="16" name="Rectángulo 15">
            <a:extLst>
              <a:ext uri="{FF2B5EF4-FFF2-40B4-BE49-F238E27FC236}">
                <a16:creationId xmlns:a16="http://schemas.microsoft.com/office/drawing/2014/main" id="{19A19E5B-BE64-4A2F-9F83-8F2A327F879B}"/>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917929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6BA5C64-AB75-4E9D-AF4B-8B20449396D4}"/>
              </a:ext>
            </a:extLst>
          </p:cNvPr>
          <p:cNvSpPr txBox="1"/>
          <p:nvPr/>
        </p:nvSpPr>
        <p:spPr>
          <a:xfrm>
            <a:off x="599863" y="683567"/>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11. Resultado </a:t>
            </a:r>
            <a:r>
              <a:rPr lang="es-ES" sz="2400" b="1" err="1">
                <a:latin typeface="Times New Roman"/>
                <a:ea typeface="Calibri" panose="020F0502020204030204" pitchFamily="34" charset="0"/>
                <a:cs typeface="Times New Roman"/>
              </a:rPr>
              <a:t>Sonarqube</a:t>
            </a:r>
            <a:endParaRPr lang="es-PE" sz="2000" b="1" err="1">
              <a:latin typeface="Times New Roman"/>
              <a:ea typeface="Calibri" panose="020F0502020204030204" pitchFamily="34" charset="0"/>
              <a:cs typeface="Times New Roman"/>
            </a:endParaRPr>
          </a:p>
        </p:txBody>
      </p:sp>
      <p:sp>
        <p:nvSpPr>
          <p:cNvPr id="9" name="CuadroTexto 8">
            <a:extLst>
              <a:ext uri="{FF2B5EF4-FFF2-40B4-BE49-F238E27FC236}">
                <a16:creationId xmlns:a16="http://schemas.microsoft.com/office/drawing/2014/main" id="{58DF4A84-3225-49DA-94E1-5FF97746E824}"/>
              </a:ext>
            </a:extLst>
          </p:cNvPr>
          <p:cNvSpPr txBox="1"/>
          <p:nvPr/>
        </p:nvSpPr>
        <p:spPr>
          <a:xfrm>
            <a:off x="1270488" y="1503457"/>
            <a:ext cx="6093068" cy="369332"/>
          </a:xfrm>
          <a:prstGeom prst="rect">
            <a:avLst/>
          </a:prstGeom>
          <a:noFill/>
        </p:spPr>
        <p:txBody>
          <a:bodyPr wrap="square">
            <a:spAutoFit/>
          </a:bodyPr>
          <a:lstStyle/>
          <a:p>
            <a:r>
              <a:rPr lang="es-ES"/>
              <a:t>6. Aquí se muestran los resultados </a:t>
            </a:r>
            <a:endParaRPr lang="es-PE"/>
          </a:p>
        </p:txBody>
      </p:sp>
      <p:pic>
        <p:nvPicPr>
          <p:cNvPr id="5" name="Imagen 4">
            <a:extLst>
              <a:ext uri="{FF2B5EF4-FFF2-40B4-BE49-F238E27FC236}">
                <a16:creationId xmlns:a16="http://schemas.microsoft.com/office/drawing/2014/main" id="{38E46D8A-C1BB-4BFF-A412-399498C62C00}"/>
              </a:ext>
            </a:extLst>
          </p:cNvPr>
          <p:cNvPicPr>
            <a:picLocks noChangeAspect="1"/>
          </p:cNvPicPr>
          <p:nvPr/>
        </p:nvPicPr>
        <p:blipFill>
          <a:blip r:embed="rId2"/>
          <a:stretch>
            <a:fillRect/>
          </a:stretch>
        </p:blipFill>
        <p:spPr>
          <a:xfrm>
            <a:off x="2580147" y="1861960"/>
            <a:ext cx="7043782" cy="4169247"/>
          </a:xfrm>
          <a:prstGeom prst="rect">
            <a:avLst/>
          </a:prstGeom>
        </p:spPr>
      </p:pic>
      <p:sp>
        <p:nvSpPr>
          <p:cNvPr id="12" name="Rectángulo 11">
            <a:extLst>
              <a:ext uri="{FF2B5EF4-FFF2-40B4-BE49-F238E27FC236}">
                <a16:creationId xmlns:a16="http://schemas.microsoft.com/office/drawing/2014/main" id="{AD06960B-E338-4B5B-A3EC-D5491D4BAC70}"/>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237912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6BA5C64-AB75-4E9D-AF4B-8B20449396D4}"/>
              </a:ext>
            </a:extLst>
          </p:cNvPr>
          <p:cNvSpPr txBox="1"/>
          <p:nvPr/>
        </p:nvSpPr>
        <p:spPr>
          <a:xfrm>
            <a:off x="599863" y="683567"/>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 Desarrollo de Solución de Mejora</a:t>
            </a:r>
            <a:endParaRPr lang="es-PE" sz="2000" b="1">
              <a:latin typeface="Times New Roman"/>
              <a:ea typeface="Calibri" panose="020F0502020204030204" pitchFamily="34" charset="0"/>
              <a:cs typeface="Times New Roman"/>
            </a:endParaRPr>
          </a:p>
        </p:txBody>
      </p:sp>
      <p:sp>
        <p:nvSpPr>
          <p:cNvPr id="6" name="CuadroTexto 5">
            <a:extLst>
              <a:ext uri="{FF2B5EF4-FFF2-40B4-BE49-F238E27FC236}">
                <a16:creationId xmlns:a16="http://schemas.microsoft.com/office/drawing/2014/main" id="{18BDFDAA-C595-44DD-8980-ED212F0E2814}"/>
              </a:ext>
            </a:extLst>
          </p:cNvPr>
          <p:cNvSpPr txBox="1"/>
          <p:nvPr/>
        </p:nvSpPr>
        <p:spPr>
          <a:xfrm>
            <a:off x="1074648" y="1439706"/>
            <a:ext cx="6093068" cy="369332"/>
          </a:xfrm>
          <a:prstGeom prst="rect">
            <a:avLst/>
          </a:prstGeom>
          <a:noFill/>
        </p:spPr>
        <p:txBody>
          <a:bodyPr wrap="square">
            <a:spAutoFit/>
          </a:bodyPr>
          <a:lstStyle/>
          <a:p>
            <a:r>
              <a:rPr lang="es-PE"/>
              <a:t>10.1. Diagrama de Arquitectura de la aplicación </a:t>
            </a:r>
          </a:p>
        </p:txBody>
      </p:sp>
      <p:sp>
        <p:nvSpPr>
          <p:cNvPr id="8" name="CuadroTexto 7">
            <a:extLst>
              <a:ext uri="{FF2B5EF4-FFF2-40B4-BE49-F238E27FC236}">
                <a16:creationId xmlns:a16="http://schemas.microsoft.com/office/drawing/2014/main" id="{DD3DE744-EBC2-45DC-B864-25956A438B07}"/>
              </a:ext>
            </a:extLst>
          </p:cNvPr>
          <p:cNvSpPr txBox="1"/>
          <p:nvPr/>
        </p:nvSpPr>
        <p:spPr>
          <a:xfrm>
            <a:off x="1517667" y="1809038"/>
            <a:ext cx="6093068" cy="1200329"/>
          </a:xfrm>
          <a:prstGeom prst="rect">
            <a:avLst/>
          </a:prstGeom>
          <a:noFill/>
        </p:spPr>
        <p:txBody>
          <a:bodyPr wrap="square">
            <a:spAutoFit/>
          </a:bodyPr>
          <a:lstStyle/>
          <a:p>
            <a:r>
              <a:rPr lang="es-ES"/>
              <a:t>Existen diferentes tipos de arquitectura o patrones a seguir para desarrollar un software, en este caso voy a explicar en que consiste la arquitectura de 3 Capas , que a mi parecer es la mas general o la mas básica para desarrollar. </a:t>
            </a:r>
            <a:endParaRPr lang="es-PE"/>
          </a:p>
        </p:txBody>
      </p:sp>
      <p:sp>
        <p:nvSpPr>
          <p:cNvPr id="10" name="CuadroTexto 9">
            <a:extLst>
              <a:ext uri="{FF2B5EF4-FFF2-40B4-BE49-F238E27FC236}">
                <a16:creationId xmlns:a16="http://schemas.microsoft.com/office/drawing/2014/main" id="{FB45A25A-6FEE-47A6-B55E-BAA1D517ED01}"/>
              </a:ext>
            </a:extLst>
          </p:cNvPr>
          <p:cNvSpPr txBox="1"/>
          <p:nvPr/>
        </p:nvSpPr>
        <p:spPr>
          <a:xfrm>
            <a:off x="1833197" y="3295102"/>
            <a:ext cx="6093068" cy="646331"/>
          </a:xfrm>
          <a:prstGeom prst="rect">
            <a:avLst/>
          </a:prstGeom>
          <a:noFill/>
        </p:spPr>
        <p:txBody>
          <a:bodyPr wrap="square">
            <a:spAutoFit/>
          </a:bodyPr>
          <a:lstStyle/>
          <a:p>
            <a:r>
              <a:rPr lang="es-ES" b="1"/>
              <a:t>1. La Capa de Presentación : </a:t>
            </a:r>
            <a:r>
              <a:rPr lang="es-ES"/>
              <a:t>Donde se encuentran los formularios y la parte visual de la aplicación. </a:t>
            </a:r>
            <a:endParaRPr lang="es-PE"/>
          </a:p>
        </p:txBody>
      </p:sp>
      <p:sp>
        <p:nvSpPr>
          <p:cNvPr id="12" name="CuadroTexto 11">
            <a:extLst>
              <a:ext uri="{FF2B5EF4-FFF2-40B4-BE49-F238E27FC236}">
                <a16:creationId xmlns:a16="http://schemas.microsoft.com/office/drawing/2014/main" id="{2C48098F-032A-4070-A04D-3AEBE5347716}"/>
              </a:ext>
            </a:extLst>
          </p:cNvPr>
          <p:cNvSpPr txBox="1"/>
          <p:nvPr/>
        </p:nvSpPr>
        <p:spPr>
          <a:xfrm>
            <a:off x="1833197" y="4134837"/>
            <a:ext cx="6093068" cy="923330"/>
          </a:xfrm>
          <a:prstGeom prst="rect">
            <a:avLst/>
          </a:prstGeom>
          <a:noFill/>
        </p:spPr>
        <p:txBody>
          <a:bodyPr wrap="square">
            <a:spAutoFit/>
          </a:bodyPr>
          <a:lstStyle/>
          <a:p>
            <a:r>
              <a:rPr lang="es-ES" b="1"/>
              <a:t>2. La Capa de Negocios : </a:t>
            </a:r>
            <a:r>
              <a:rPr lang="es-ES"/>
              <a:t>Donde se encuentra toda la lógica del negocio y clases que las componentes es decir, Entidades y controladoras)</a:t>
            </a:r>
            <a:endParaRPr lang="es-PE"/>
          </a:p>
        </p:txBody>
      </p:sp>
      <p:sp>
        <p:nvSpPr>
          <p:cNvPr id="14" name="CuadroTexto 13">
            <a:extLst>
              <a:ext uri="{FF2B5EF4-FFF2-40B4-BE49-F238E27FC236}">
                <a16:creationId xmlns:a16="http://schemas.microsoft.com/office/drawing/2014/main" id="{1CAA7BA4-CC2B-4428-93E4-2314A49319E6}"/>
              </a:ext>
            </a:extLst>
          </p:cNvPr>
          <p:cNvSpPr txBox="1"/>
          <p:nvPr/>
        </p:nvSpPr>
        <p:spPr>
          <a:xfrm>
            <a:off x="1833197" y="5251103"/>
            <a:ext cx="6093068" cy="923330"/>
          </a:xfrm>
          <a:prstGeom prst="rect">
            <a:avLst/>
          </a:prstGeom>
          <a:noFill/>
        </p:spPr>
        <p:txBody>
          <a:bodyPr wrap="square">
            <a:spAutoFit/>
          </a:bodyPr>
          <a:lstStyle/>
          <a:p>
            <a:r>
              <a:rPr lang="es-ES" b="1"/>
              <a:t>3. La Capa de Acceso a Datos: </a:t>
            </a:r>
            <a:r>
              <a:rPr lang="es-ES"/>
              <a:t>Donde se encuentra las conexiones y las transacciones que se utilizan para comunicarse con la base de datos. </a:t>
            </a:r>
            <a:endParaRPr lang="es-PE"/>
          </a:p>
        </p:txBody>
      </p:sp>
      <p:pic>
        <p:nvPicPr>
          <p:cNvPr id="15" name="Imagen 14">
            <a:extLst>
              <a:ext uri="{FF2B5EF4-FFF2-40B4-BE49-F238E27FC236}">
                <a16:creationId xmlns:a16="http://schemas.microsoft.com/office/drawing/2014/main" id="{0C8D01A2-3A37-48E6-BFD8-FAADD0EB7894}"/>
              </a:ext>
            </a:extLst>
          </p:cNvPr>
          <p:cNvPicPr>
            <a:picLocks noChangeAspect="1"/>
          </p:cNvPicPr>
          <p:nvPr/>
        </p:nvPicPr>
        <p:blipFill>
          <a:blip r:embed="rId2"/>
          <a:stretch>
            <a:fillRect/>
          </a:stretch>
        </p:blipFill>
        <p:spPr>
          <a:xfrm>
            <a:off x="8053754" y="1160364"/>
            <a:ext cx="3352800" cy="5105400"/>
          </a:xfrm>
          <a:prstGeom prst="rect">
            <a:avLst/>
          </a:prstGeom>
        </p:spPr>
      </p:pic>
      <p:sp>
        <p:nvSpPr>
          <p:cNvPr id="16" name="Rectángulo 15">
            <a:extLst>
              <a:ext uri="{FF2B5EF4-FFF2-40B4-BE49-F238E27FC236}">
                <a16:creationId xmlns:a16="http://schemas.microsoft.com/office/drawing/2014/main" id="{4A9EBAE7-A41A-4560-8298-A9A4451A925F}"/>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440392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6BA5C64-AB75-4E9D-AF4B-8B20449396D4}"/>
              </a:ext>
            </a:extLst>
          </p:cNvPr>
          <p:cNvSpPr txBox="1"/>
          <p:nvPr/>
        </p:nvSpPr>
        <p:spPr>
          <a:xfrm>
            <a:off x="599863" y="683567"/>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13. Desarrollo de Solución de Mejora</a:t>
            </a:r>
            <a:endParaRPr lang="es-PE" sz="2000" b="1">
              <a:latin typeface="Times New Roman"/>
              <a:ea typeface="Calibri" panose="020F0502020204030204" pitchFamily="34" charset="0"/>
              <a:cs typeface="Times New Roman"/>
            </a:endParaRPr>
          </a:p>
        </p:txBody>
      </p:sp>
      <p:sp>
        <p:nvSpPr>
          <p:cNvPr id="6" name="CuadroTexto 5">
            <a:extLst>
              <a:ext uri="{FF2B5EF4-FFF2-40B4-BE49-F238E27FC236}">
                <a16:creationId xmlns:a16="http://schemas.microsoft.com/office/drawing/2014/main" id="{18BDFDAA-C595-44DD-8980-ED212F0E2814}"/>
              </a:ext>
            </a:extLst>
          </p:cNvPr>
          <p:cNvSpPr txBox="1"/>
          <p:nvPr/>
        </p:nvSpPr>
        <p:spPr>
          <a:xfrm>
            <a:off x="1074648" y="1439706"/>
            <a:ext cx="6093068" cy="369332"/>
          </a:xfrm>
          <a:prstGeom prst="rect">
            <a:avLst/>
          </a:prstGeom>
          <a:noFill/>
        </p:spPr>
        <p:txBody>
          <a:bodyPr wrap="square">
            <a:spAutoFit/>
          </a:bodyPr>
          <a:lstStyle/>
          <a:p>
            <a:r>
              <a:rPr lang="es-PE"/>
              <a:t>10.2. MUESTRAS</a:t>
            </a:r>
          </a:p>
        </p:txBody>
      </p:sp>
      <p:pic>
        <p:nvPicPr>
          <p:cNvPr id="2" name="Imagen 1">
            <a:extLst>
              <a:ext uri="{FF2B5EF4-FFF2-40B4-BE49-F238E27FC236}">
                <a16:creationId xmlns:a16="http://schemas.microsoft.com/office/drawing/2014/main" id="{95FFF2B2-5996-4B99-89A4-9093AB62AB61}"/>
              </a:ext>
            </a:extLst>
          </p:cNvPr>
          <p:cNvPicPr>
            <a:picLocks noChangeAspect="1"/>
          </p:cNvPicPr>
          <p:nvPr/>
        </p:nvPicPr>
        <p:blipFill>
          <a:blip r:embed="rId2"/>
          <a:stretch>
            <a:fillRect/>
          </a:stretch>
        </p:blipFill>
        <p:spPr>
          <a:xfrm>
            <a:off x="2738292" y="239100"/>
            <a:ext cx="5707451" cy="6179748"/>
          </a:xfrm>
          <a:prstGeom prst="rect">
            <a:avLst/>
          </a:prstGeom>
        </p:spPr>
      </p:pic>
      <p:sp>
        <p:nvSpPr>
          <p:cNvPr id="13" name="Rectángulo 12">
            <a:extLst>
              <a:ext uri="{FF2B5EF4-FFF2-40B4-BE49-F238E27FC236}">
                <a16:creationId xmlns:a16="http://schemas.microsoft.com/office/drawing/2014/main" id="{9A5E72D2-7A66-4E0E-A6F7-AE485089F205}"/>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931660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1CA06F8-FDF9-41ED-BCF9-4B3FD90871A7}"/>
              </a:ext>
            </a:extLst>
          </p:cNvPr>
          <p:cNvSpPr txBox="1"/>
          <p:nvPr/>
        </p:nvSpPr>
        <p:spPr>
          <a:xfrm>
            <a:off x="3046535" y="3244334"/>
            <a:ext cx="6093068" cy="369332"/>
          </a:xfrm>
          <a:prstGeom prst="rect">
            <a:avLst/>
          </a:prstGeom>
          <a:noFill/>
        </p:spPr>
        <p:txBody>
          <a:bodyPr wrap="square">
            <a:spAutoFit/>
          </a:bodyPr>
          <a:lstStyle/>
          <a:p>
            <a:pPr algn="ctr"/>
            <a:r>
              <a:rPr lang="es-ES" sz="1800" b="1">
                <a:latin typeface="Times New Roman" panose="02020603050405020304" pitchFamily="18" charset="0"/>
                <a:ea typeface="Calibri" panose="020F0502020204030204" pitchFamily="34" charset="0"/>
                <a:cs typeface="Times New Roman" panose="02020603050405020304" pitchFamily="18" charset="0"/>
              </a:rPr>
              <a:t>FIN</a:t>
            </a:r>
            <a:endParaRPr lang="es-PE"/>
          </a:p>
        </p:txBody>
      </p:sp>
      <p:sp>
        <p:nvSpPr>
          <p:cNvPr id="6" name="Rectángulo 5">
            <a:extLst>
              <a:ext uri="{FF2B5EF4-FFF2-40B4-BE49-F238E27FC236}">
                <a16:creationId xmlns:a16="http://schemas.microsoft.com/office/drawing/2014/main" id="{2EF506D7-0072-4AC1-A5D3-42629E79AA60}"/>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289792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6BA5C64-AB75-4E9D-AF4B-8B20449396D4}"/>
              </a:ext>
            </a:extLst>
          </p:cNvPr>
          <p:cNvSpPr txBox="1"/>
          <p:nvPr/>
        </p:nvSpPr>
        <p:spPr>
          <a:xfrm>
            <a:off x="599863" y="683567"/>
            <a:ext cx="7928676" cy="461665"/>
          </a:xfrm>
          <a:prstGeom prst="rect">
            <a:avLst/>
          </a:prstGeom>
          <a:noFill/>
        </p:spPr>
        <p:txBody>
          <a:bodyPr wrap="square" lIns="91440" tIns="45720" rIns="91440" bIns="45720" anchor="t">
            <a:spAutoFit/>
          </a:bodyPr>
          <a:lstStyle/>
          <a:p>
            <a:pPr algn="just">
              <a:spcAft>
                <a:spcPts val="600"/>
              </a:spcAft>
            </a:pPr>
            <a:r>
              <a:rPr lang="es-ES" sz="2400" b="1">
                <a:latin typeface="Times New Roman"/>
                <a:ea typeface="Calibri" panose="020F0502020204030204" pitchFamily="34" charset="0"/>
                <a:cs typeface="Times New Roman"/>
              </a:rPr>
              <a:t>14. CONCLUSIONES </a:t>
            </a:r>
            <a:r>
              <a:rPr lang="es-ES" sz="2400" b="1">
                <a:latin typeface="Times New Roman"/>
                <a:ea typeface="+mn-lt"/>
                <a:cs typeface="+mn-lt"/>
              </a:rPr>
              <a:t>DE SONARQUBE</a:t>
            </a:r>
            <a:endParaRPr lang="es-PE" sz="2000" b="1">
              <a:latin typeface="Times New Roman"/>
              <a:ea typeface="Calibri" panose="020F0502020204030204" pitchFamily="34" charset="0"/>
              <a:cs typeface="Times New Roman"/>
            </a:endParaRPr>
          </a:p>
        </p:txBody>
      </p:sp>
      <p:sp>
        <p:nvSpPr>
          <p:cNvPr id="13" name="Rectángulo 12">
            <a:extLst>
              <a:ext uri="{FF2B5EF4-FFF2-40B4-BE49-F238E27FC236}">
                <a16:creationId xmlns:a16="http://schemas.microsoft.com/office/drawing/2014/main" id="{9A5E72D2-7A66-4E0E-A6F7-AE485089F205}"/>
              </a:ext>
            </a:extLst>
          </p:cNvPr>
          <p:cNvSpPr/>
          <p:nvPr/>
        </p:nvSpPr>
        <p:spPr>
          <a:xfrm>
            <a:off x="234462" y="173442"/>
            <a:ext cx="11723076" cy="6511116"/>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TextBox 2">
            <a:extLst>
              <a:ext uri="{FF2B5EF4-FFF2-40B4-BE49-F238E27FC236}">
                <a16:creationId xmlns:a16="http://schemas.microsoft.com/office/drawing/2014/main" id="{44CFDC02-0101-4C55-9E65-B60E2457687D}"/>
              </a:ext>
            </a:extLst>
          </p:cNvPr>
          <p:cNvSpPr txBox="1"/>
          <p:nvPr/>
        </p:nvSpPr>
        <p:spPr>
          <a:xfrm>
            <a:off x="1360098" y="1590136"/>
            <a:ext cx="812033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s-CL"/>
              <a:t>Duplicación de código </a:t>
            </a:r>
            <a:endParaRPr lang="en-US">
              <a:cs typeface="Calibri" panose="020F0502020204030204"/>
            </a:endParaRPr>
          </a:p>
          <a:p>
            <a:r>
              <a:rPr lang="es-CL" err="1"/>
              <a:t>Sonarqube</a:t>
            </a:r>
            <a:r>
              <a:rPr lang="es-CL"/>
              <a:t> nos proporcionó un 38.1 de Código duplicado, este detecto partes de nuestro software que se asemejan. La duplicación de código es generalmente considerada una señal de estilo de programación pobre, un buen desarrollo está mas asociado a la reutilización del mismo. Es por eso que debemos aspirar a mejor nuestra forma de programar. </a:t>
            </a:r>
          </a:p>
          <a:p>
            <a:endParaRPr lang="es-CL"/>
          </a:p>
          <a:p>
            <a:pPr marL="285750" indent="-285750">
              <a:buFont typeface="Arial"/>
              <a:buChar char="•"/>
            </a:pPr>
            <a:r>
              <a:rPr lang="es-CL" err="1"/>
              <a:t>CodeSmells</a:t>
            </a:r>
            <a:r>
              <a:rPr lang="es-CL"/>
              <a:t> </a:t>
            </a:r>
            <a:r>
              <a:rPr lang="es-CL" err="1"/>
              <a:t>Sonarqube</a:t>
            </a:r>
            <a:r>
              <a:rPr lang="es-CL"/>
              <a:t> </a:t>
            </a:r>
            <a:endParaRPr lang="es-CL">
              <a:cs typeface="Calibri" panose="020F0502020204030204"/>
            </a:endParaRPr>
          </a:p>
          <a:p>
            <a:r>
              <a:rPr lang="es-CL"/>
              <a:t>Nos proporcionó un total de 442 de </a:t>
            </a:r>
            <a:r>
              <a:rPr lang="es-CL" err="1"/>
              <a:t>codesmells</a:t>
            </a:r>
            <a:r>
              <a:rPr lang="es-CL"/>
              <a:t>. En este caso la letra A, significa que no tenemos alguna deuda técnica, sin embargo, si tuviéramos una letra E esto significaría que el código fuente del programa indique posiblemente un problema más profundo. Pero en este caso nos refiere que el proyecto presenta un </a:t>
            </a:r>
            <a:r>
              <a:rPr lang="es-CL" err="1"/>
              <a:t>level</a:t>
            </a:r>
            <a:r>
              <a:rPr lang="es-CL"/>
              <a:t> maderable de codesmells.</a:t>
            </a:r>
            <a:endParaRPr lang="es-CL">
              <a:cs typeface="Calibri"/>
            </a:endParaRPr>
          </a:p>
        </p:txBody>
      </p:sp>
    </p:spTree>
    <p:extLst>
      <p:ext uri="{BB962C8B-B14F-4D97-AF65-F5344CB8AC3E}">
        <p14:creationId xmlns:p14="http://schemas.microsoft.com/office/powerpoint/2010/main" val="4802384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PIERO</dc:creator>
  <cp:revision>2</cp:revision>
  <dcterms:created xsi:type="dcterms:W3CDTF">2020-10-31T07:16:53Z</dcterms:created>
  <dcterms:modified xsi:type="dcterms:W3CDTF">2020-11-01T04:19:49Z</dcterms:modified>
</cp:coreProperties>
</file>